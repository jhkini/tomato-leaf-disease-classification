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82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9" r:id="rId20"/>
    <p:sldId id="270" r:id="rId21"/>
    <p:sldId id="271" r:id="rId22"/>
    <p:sldId id="272" r:id="rId23"/>
    <p:sldId id="273" r:id="rId24"/>
    <p:sldId id="274" r:id="rId25"/>
    <p:sldId id="283" r:id="rId26"/>
    <p:sldId id="275" r:id="rId27"/>
    <p:sldId id="281" r:id="rId28"/>
    <p:sldId id="284" r:id="rId29"/>
    <p:sldId id="277" r:id="rId30"/>
    <p:sldId id="28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2FB"/>
    <a:srgbClr val="EAF6E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26023-5A44-B6BC-E49C-B9C65A3A7F17}" v="2" dt="2026-09-09T04:30:06.289"/>
    <p1510:client id="{C704FE6A-D978-5DE0-3523-A34F2D35BC9E}" v="2" dt="2026-09-09T06:23:52.719"/>
    <p1510:client id="{F92551B1-02B4-57EF-6CB0-0B52010955A8}" v="2" dt="2026-09-09T04:31:12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구가은" userId="S::2601340022@office.kopo.ac.kr::aa71d1dd-6b6a-4046-8d58-9b8a836cae71" providerId="AD" clId="Web-{6A726023-5A44-B6BC-E49C-B9C65A3A7F17}"/>
    <pc:docChg chg="modSld">
      <pc:chgData name="구가은" userId="S::2601340022@office.kopo.ac.kr::aa71d1dd-6b6a-4046-8d58-9b8a836cae71" providerId="AD" clId="Web-{6A726023-5A44-B6BC-E49C-B9C65A3A7F17}" dt="2026-09-09T04:30:06.289" v="1" actId="1076"/>
      <pc:docMkLst>
        <pc:docMk/>
      </pc:docMkLst>
      <pc:sldChg chg="modSp">
        <pc:chgData name="구가은" userId="S::2601340022@office.kopo.ac.kr::aa71d1dd-6b6a-4046-8d58-9b8a836cae71" providerId="AD" clId="Web-{6A726023-5A44-B6BC-E49C-B9C65A3A7F17}" dt="2026-09-09T04:30:06.289" v="1" actId="1076"/>
        <pc:sldMkLst>
          <pc:docMk/>
          <pc:sldMk cId="0" sldId="265"/>
        </pc:sldMkLst>
        <pc:spChg chg="mod">
          <ac:chgData name="구가은" userId="S::2601340022@office.kopo.ac.kr::aa71d1dd-6b6a-4046-8d58-9b8a836cae71" providerId="AD" clId="Web-{6A726023-5A44-B6BC-E49C-B9C65A3A7F17}" dt="2026-09-09T04:30:06.289" v="1" actId="1076"/>
          <ac:spMkLst>
            <pc:docMk/>
            <pc:sldMk cId="0" sldId="265"/>
            <ac:spMk id="2" creationId="{00000000-0000-0000-0000-000000000000}"/>
          </ac:spMkLst>
        </pc:spChg>
      </pc:sldChg>
    </pc:docChg>
  </pc:docChgLst>
  <pc:docChgLst>
    <pc:chgData name="양 진희" userId="S::2601340094@office.kopo.ac.kr::52c7c880-7f0d-418f-a69a-b85858b46fe3" providerId="AD" clId="Web-{C704FE6A-D978-5DE0-3523-A34F2D35BC9E}"/>
    <pc:docChg chg="addSld delSld">
      <pc:chgData name="양 진희" userId="S::2601340094@office.kopo.ac.kr::52c7c880-7f0d-418f-a69a-b85858b46fe3" providerId="AD" clId="Web-{C704FE6A-D978-5DE0-3523-A34F2D35BC9E}" dt="2026-09-09T06:23:52.719" v="1"/>
      <pc:docMkLst>
        <pc:docMk/>
      </pc:docMkLst>
      <pc:sldChg chg="new del">
        <pc:chgData name="양 진희" userId="S::2601340094@office.kopo.ac.kr::52c7c880-7f0d-418f-a69a-b85858b46fe3" providerId="AD" clId="Web-{C704FE6A-D978-5DE0-3523-A34F2D35BC9E}" dt="2026-09-09T06:23:52.719" v="1"/>
        <pc:sldMkLst>
          <pc:docMk/>
          <pc:sldMk cId="1136951030" sldId="285"/>
        </pc:sldMkLst>
      </pc:sldChg>
    </pc:docChg>
  </pc:docChgLst>
  <pc:docChgLst>
    <pc:chgData name="정의형" userId="S::2601340038@office.kopo.ac.kr::7d5454de-0ab7-45ea-a5cf-8fcc5db6e43d" providerId="AD" clId="Web-{F92551B1-02B4-57EF-6CB0-0B52010955A8}"/>
    <pc:docChg chg="modSld">
      <pc:chgData name="정의형" userId="S::2601340038@office.kopo.ac.kr::7d5454de-0ab7-45ea-a5cf-8fcc5db6e43d" providerId="AD" clId="Web-{F92551B1-02B4-57EF-6CB0-0B52010955A8}" dt="2026-09-09T04:31:12.104" v="1" actId="1076"/>
      <pc:docMkLst>
        <pc:docMk/>
      </pc:docMkLst>
      <pc:sldChg chg="modSp">
        <pc:chgData name="정의형" userId="S::2601340038@office.kopo.ac.kr::7d5454de-0ab7-45ea-a5cf-8fcc5db6e43d" providerId="AD" clId="Web-{F92551B1-02B4-57EF-6CB0-0B52010955A8}" dt="2026-09-09T04:31:12.104" v="1" actId="1076"/>
        <pc:sldMkLst>
          <pc:docMk/>
          <pc:sldMk cId="0" sldId="262"/>
        </pc:sldMkLst>
        <pc:spChg chg="mod">
          <ac:chgData name="정의형" userId="S::2601340038@office.kopo.ac.kr::7d5454de-0ab7-45ea-a5cf-8fcc5db6e43d" providerId="AD" clId="Web-{F92551B1-02B4-57EF-6CB0-0B52010955A8}" dt="2026-09-09T04:31:12.104" v="1" actId="1076"/>
          <ac:spMkLst>
            <pc:docMk/>
            <pc:sldMk cId="0" sldId="262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frontiersin.org/journals/plant-science/articles/10.3389/fpls.2016.01419/full?utm_source=chatgpt.com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4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85936"/>
            <a:ext cx="8804013" cy="11592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토마토</a:t>
            </a:r>
            <a:r>
              <a:t> 잎 </a:t>
            </a:r>
            <a:r>
              <a:rPr err="1"/>
              <a:t>질병</a:t>
            </a:r>
            <a:r>
              <a:t> </a:t>
            </a:r>
            <a:r>
              <a:rPr err="1"/>
              <a:t>이미지</a:t>
            </a:r>
            <a:r>
              <a:t> </a:t>
            </a:r>
            <a:r>
              <a:rPr err="1"/>
              <a:t>분류</a:t>
            </a:r>
            <a:endParaRPr/>
          </a:p>
          <a:p>
            <a:pPr>
              <a:spcBef>
                <a:spcPts val="1000"/>
              </a:spcBef>
              <a:defRPr sz="2300">
                <a:solidFill>
                  <a:srgbClr val="5A6470"/>
                </a:solidFill>
                <a:latin typeface="Malgun Gothic"/>
              </a:defRPr>
            </a:pPr>
            <a:r>
              <a:rPr lang="ko-KR" altLang="ko-KR" sz="2300">
                <a:solidFill>
                  <a:srgbClr val="5A6470"/>
                </a:solidFill>
                <a:latin typeface="Malgun Gothic"/>
              </a:rPr>
              <a:t>ANN·DNN·CNN 모델 비교를 통한 토마토 잎 질병 분류 성능 분석</a:t>
            </a: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522098-7688-68AA-C8C2-4B43F2ECFE49}"/>
              </a:ext>
            </a:extLst>
          </p:cNvPr>
          <p:cNvSpPr txBox="1"/>
          <p:nvPr/>
        </p:nvSpPr>
        <p:spPr>
          <a:xfrm>
            <a:off x="833086" y="4072606"/>
            <a:ext cx="27447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err="1"/>
              <a:t>폴리텍</a:t>
            </a:r>
            <a:r>
              <a:rPr lang="ko-KR" altLang="en-US" sz="2000"/>
              <a:t> 하이테크 과정 </a:t>
            </a:r>
            <a:r>
              <a:rPr lang="en-US" altLang="ko-KR" sz="2000"/>
              <a:t>AI Software</a:t>
            </a:r>
          </a:p>
          <a:p>
            <a:r>
              <a:rPr lang="ko-KR" altLang="en-US" sz="2000"/>
              <a:t>양진희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52986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rPr lang="en-US"/>
              <a:t>01</a:t>
            </a:r>
            <a:r>
              <a:t>. </a:t>
            </a:r>
            <a:r>
              <a:rPr err="1"/>
              <a:t>스토리라인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350618"/>
            <a:ext cx="105208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rPr sz="2000"/>
              <a:t>문제 정의 → 데이터 검증 → 기준선 → 구조 확장 → 하이퍼파라미터 조정 → 비교 → 해석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6690"/>
            <a:ext cx="3383280" cy="1554480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문제</a:t>
            </a:r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t>토마토 잎 7개 클래스 분류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0248" y="1926690"/>
            <a:ext cx="3383280" cy="1554480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데이터</a:t>
            </a:r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t>9,800장 · 클래스당 1,400장 · 70/15/15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7576" y="1926690"/>
            <a:ext cx="3383280" cy="1554480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Baseline</a:t>
            </a:r>
          </a:p>
          <a:p>
            <a:pPr algn="ctr"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rPr err="1"/>
              <a:t>단일층</a:t>
            </a:r>
            <a:r>
              <a:t> ANN → DNN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84090"/>
            <a:ext cx="3383280" cy="155448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모델</a:t>
            </a:r>
            <a:r>
              <a:t> </a:t>
            </a:r>
            <a:r>
              <a:rPr err="1"/>
              <a:t>확장</a:t>
            </a:r>
            <a:endParaRPr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rPr err="1"/>
              <a:t>CNN으로</a:t>
            </a:r>
            <a:r>
              <a:t> </a:t>
            </a:r>
            <a:r>
              <a:rPr err="1"/>
              <a:t>공간적</a:t>
            </a:r>
            <a:r>
              <a:t> </a:t>
            </a:r>
            <a:r>
              <a:rPr err="1"/>
              <a:t>특징</a:t>
            </a:r>
            <a:r>
              <a:t> </a:t>
            </a:r>
            <a:r>
              <a:rPr err="1"/>
              <a:t>추출</a:t>
            </a: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70248" y="3984090"/>
            <a:ext cx="3383280" cy="155448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조정</a:t>
            </a:r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t>He Normal + Dropout 0.5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7576" y="3984090"/>
            <a:ext cx="3383280" cy="155448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검증</a:t>
            </a:r>
            <a:endParaRPr/>
          </a:p>
          <a:p>
            <a:pPr algn="ctr"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t>Test </a:t>
            </a:r>
            <a:r>
              <a:rPr err="1"/>
              <a:t>set에서</a:t>
            </a:r>
            <a:r>
              <a:t> </a:t>
            </a:r>
            <a:r>
              <a:rPr err="1"/>
              <a:t>최종</a:t>
            </a:r>
            <a:r>
              <a:t> </a:t>
            </a:r>
            <a:r>
              <a:rPr err="1"/>
              <a:t>비교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37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752"/>
                </a:solidFill>
                <a:latin typeface="Malgun Gothic"/>
              </a:defRPr>
            </a:pPr>
            <a:r>
              <a:rPr lang="en-US"/>
              <a:t>02. </a:t>
            </a:r>
            <a:r>
              <a:rPr err="1"/>
              <a:t>프로젝트</a:t>
            </a:r>
            <a:r>
              <a:t> </a:t>
            </a:r>
            <a:r>
              <a:rPr err="1"/>
              <a:t>목적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Malgun Gothic"/>
              </a:defRPr>
            </a:pPr>
            <a:r>
              <a:t>Portfolio · What &amp; 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57800" cy="3566160"/>
          </a:xfrm>
          <a:prstGeom prst="roundRect">
            <a:avLst/>
          </a:prstGeom>
          <a:solidFill>
            <a:srgbClr val="EBF4FB"/>
          </a:solidFill>
          <a:ln>
            <a:solidFill>
              <a:srgbClr val="4B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201168" rtlCol="0" anchor="ctr"/>
          <a:lstStyle/>
          <a:p>
            <a:pPr algn="ctr">
              <a:defRPr sz="1800" b="1">
                <a:solidFill>
                  <a:srgbClr val="1C3752"/>
                </a:solidFill>
                <a:latin typeface="Malgun Gothic"/>
              </a:defRPr>
            </a:pPr>
            <a:r>
              <a:rPr lang="ko-KR" altLang="en-US"/>
              <a:t>프로젝트 목적</a:t>
            </a:r>
            <a:endParaRPr lang="en-US" altLang="ko-KR"/>
          </a:p>
          <a:p>
            <a:pPr algn="ctr">
              <a:defRPr sz="1800" b="1">
                <a:solidFill>
                  <a:srgbClr val="1C3752"/>
                </a:solidFill>
                <a:latin typeface="Malgun Gothic"/>
              </a:defRPr>
            </a:pPr>
            <a:endParaRPr lang="en-US" altLang="ko-KR"/>
          </a:p>
          <a:p>
            <a:pPr algn="just">
              <a:defRPr sz="1800" b="1">
                <a:solidFill>
                  <a:srgbClr val="1C3752"/>
                </a:solidFill>
                <a:latin typeface="Malgun Gothic"/>
              </a:defRPr>
            </a:pPr>
            <a:r>
              <a:rPr sz="1600" err="1"/>
              <a:t>토마토</a:t>
            </a:r>
            <a:r>
              <a:rPr sz="1600"/>
              <a:t> 잎 </a:t>
            </a:r>
            <a:r>
              <a:rPr sz="1600" err="1"/>
              <a:t>이미지에서</a:t>
            </a:r>
            <a:r>
              <a:rPr sz="1600"/>
              <a:t> </a:t>
            </a:r>
            <a:r>
              <a:rPr sz="1600" err="1"/>
              <a:t>질병을</a:t>
            </a:r>
            <a:r>
              <a:rPr sz="1600"/>
              <a:t> </a:t>
            </a:r>
            <a:r>
              <a:rPr sz="1600" err="1"/>
              <a:t>자동으로</a:t>
            </a:r>
            <a:r>
              <a:rPr sz="1600"/>
              <a:t> </a:t>
            </a:r>
            <a:r>
              <a:rPr sz="1600" err="1"/>
              <a:t>분류할</a:t>
            </a:r>
            <a:r>
              <a:rPr sz="1600"/>
              <a:t> 수 </a:t>
            </a:r>
            <a:r>
              <a:rPr sz="1600" err="1"/>
              <a:t>있는</a:t>
            </a:r>
            <a:r>
              <a:rPr sz="1600"/>
              <a:t> </a:t>
            </a:r>
            <a:r>
              <a:rPr sz="1600" err="1"/>
              <a:t>딥러닝</a:t>
            </a:r>
            <a:r>
              <a:rPr sz="1600"/>
              <a:t> </a:t>
            </a:r>
            <a:r>
              <a:rPr sz="1600" err="1"/>
              <a:t>모델을</a:t>
            </a:r>
            <a:r>
              <a:rPr sz="1600"/>
              <a:t> </a:t>
            </a:r>
            <a:r>
              <a:rPr sz="1600" err="1"/>
              <a:t>구현하고</a:t>
            </a:r>
            <a:r>
              <a:rPr sz="1600"/>
              <a:t>, </a:t>
            </a:r>
            <a:r>
              <a:rPr sz="1600" err="1"/>
              <a:t>이미지</a:t>
            </a:r>
            <a:r>
              <a:rPr sz="1600"/>
              <a:t> </a:t>
            </a:r>
            <a:r>
              <a:rPr sz="1600" err="1"/>
              <a:t>데이터에</a:t>
            </a:r>
            <a:r>
              <a:rPr sz="1600"/>
              <a:t> </a:t>
            </a:r>
            <a:r>
              <a:rPr sz="1600" err="1"/>
              <a:t>적합한</a:t>
            </a:r>
            <a:r>
              <a:rPr sz="1600"/>
              <a:t> </a:t>
            </a:r>
            <a:r>
              <a:rPr lang="ko-KR" altLang="en-US" sz="1600"/>
              <a:t>딥러닝 </a:t>
            </a:r>
            <a:r>
              <a:rPr sz="1600" err="1"/>
              <a:t>모델</a:t>
            </a:r>
            <a:r>
              <a:rPr sz="1600"/>
              <a:t> </a:t>
            </a:r>
            <a:r>
              <a:rPr sz="1600" err="1"/>
              <a:t>구조가</a:t>
            </a:r>
            <a:r>
              <a:rPr sz="1600"/>
              <a:t> </a:t>
            </a:r>
            <a:r>
              <a:rPr sz="1600" err="1"/>
              <a:t>무엇인지</a:t>
            </a:r>
            <a:r>
              <a:rPr sz="1600"/>
              <a:t> </a:t>
            </a:r>
            <a:r>
              <a:rPr sz="1600" err="1"/>
              <a:t>확인하고자</a:t>
            </a:r>
            <a:r>
              <a:rPr sz="1600"/>
              <a:t> </a:t>
            </a:r>
            <a:r>
              <a:rPr sz="1600" err="1"/>
              <a:t>했다</a:t>
            </a:r>
            <a:r>
              <a:rPr sz="160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5780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1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201168" rtlCol="0" anchor="ctr"/>
          <a:lstStyle/>
          <a:p>
            <a:pPr algn="ctr">
              <a:defRPr sz="1800" b="1">
                <a:solidFill>
                  <a:srgbClr val="1C3752"/>
                </a:solidFill>
                <a:latin typeface="Malgun Gothic"/>
              </a:defRPr>
            </a:pPr>
            <a:r>
              <a:rPr err="1"/>
              <a:t>실험</a:t>
            </a:r>
            <a:r>
              <a:rPr lang="ko-KR" altLang="en-US"/>
              <a:t>내용</a:t>
            </a:r>
            <a:endParaRPr lang="en-US" altLang="ko-KR"/>
          </a:p>
          <a:p>
            <a:pPr algn="ctr">
              <a:defRPr sz="1800" b="1">
                <a:solidFill>
                  <a:srgbClr val="1C3752"/>
                </a:solidFill>
                <a:latin typeface="Malgun Gothic"/>
              </a:defRPr>
            </a:pPr>
            <a:endParaRPr/>
          </a:p>
          <a:p>
            <a:pPr>
              <a:spcBef>
                <a:spcPts val="900"/>
              </a:spcBef>
              <a:defRPr sz="1400">
                <a:solidFill>
                  <a:srgbClr val="23282D"/>
                </a:solidFill>
                <a:latin typeface="Malgun Gothic"/>
              </a:defRPr>
            </a:pPr>
            <a:r>
              <a:rPr sz="1600" b="1"/>
              <a:t>ANN → DNN → </a:t>
            </a:r>
            <a:r>
              <a:rPr sz="1600" b="1" err="1"/>
              <a:t>CNN으로</a:t>
            </a:r>
            <a:r>
              <a:rPr sz="1600" b="1"/>
              <a:t> </a:t>
            </a:r>
            <a:r>
              <a:rPr sz="1600" b="1" err="1"/>
              <a:t>모델</a:t>
            </a:r>
            <a:r>
              <a:rPr sz="1600" b="1"/>
              <a:t> </a:t>
            </a:r>
            <a:r>
              <a:rPr sz="1600" b="1" err="1"/>
              <a:t>구조를</a:t>
            </a:r>
            <a:r>
              <a:rPr sz="1600" b="1"/>
              <a:t> </a:t>
            </a:r>
            <a:r>
              <a:rPr sz="1600" b="1" err="1"/>
              <a:t>단계적으로</a:t>
            </a:r>
            <a:r>
              <a:rPr sz="1600" b="1"/>
              <a:t> </a:t>
            </a:r>
            <a:r>
              <a:rPr sz="1600" b="1" err="1"/>
              <a:t>확장하고</a:t>
            </a:r>
            <a:r>
              <a:rPr sz="1600" b="1"/>
              <a:t>, </a:t>
            </a:r>
            <a:r>
              <a:rPr sz="1600" b="1" err="1"/>
              <a:t>Keras와</a:t>
            </a:r>
            <a:r>
              <a:rPr sz="1600" b="1"/>
              <a:t> </a:t>
            </a:r>
            <a:r>
              <a:rPr sz="1600" b="1" err="1"/>
              <a:t>PyTorch로</a:t>
            </a:r>
            <a:r>
              <a:rPr sz="1600" b="1"/>
              <a:t> </a:t>
            </a:r>
            <a:r>
              <a:rPr sz="1600" b="1" err="1"/>
              <a:t>구현하여</a:t>
            </a:r>
            <a:r>
              <a:rPr sz="1600" b="1"/>
              <a:t> </a:t>
            </a:r>
            <a:r>
              <a:rPr sz="1600" b="1" err="1"/>
              <a:t>성능을</a:t>
            </a:r>
            <a:r>
              <a:rPr sz="1600" b="1"/>
              <a:t> </a:t>
            </a:r>
            <a:r>
              <a:rPr sz="1600" b="1" err="1"/>
              <a:t>비교했다</a:t>
            </a:r>
            <a:r>
              <a:rPr sz="1600" b="1"/>
              <a:t>.</a:t>
            </a:r>
            <a:br>
              <a:rPr sz="1600" b="1"/>
            </a:br>
            <a:br>
              <a:rPr sz="1600" b="1"/>
            </a:br>
            <a:r>
              <a:rPr sz="1600" b="1" err="1"/>
              <a:t>또한</a:t>
            </a:r>
            <a:r>
              <a:rPr sz="1600" b="1"/>
              <a:t> </a:t>
            </a:r>
            <a:r>
              <a:rPr sz="1600" b="1" err="1"/>
              <a:t>데이터</a:t>
            </a:r>
            <a:r>
              <a:rPr sz="1600" b="1"/>
              <a:t> </a:t>
            </a:r>
            <a:r>
              <a:rPr sz="1600" b="1" err="1"/>
              <a:t>중복</a:t>
            </a:r>
            <a:r>
              <a:rPr sz="1600" b="1"/>
              <a:t> </a:t>
            </a:r>
            <a:r>
              <a:rPr sz="1600" b="1" err="1"/>
              <a:t>검증과</a:t>
            </a:r>
            <a:r>
              <a:rPr sz="1600" b="1"/>
              <a:t> </a:t>
            </a:r>
            <a:r>
              <a:rPr sz="1600" b="1" err="1"/>
              <a:t>하이퍼파라미터</a:t>
            </a:r>
            <a:r>
              <a:rPr sz="1600" b="1"/>
              <a:t> </a:t>
            </a:r>
            <a:r>
              <a:rPr sz="1600" b="1" err="1"/>
              <a:t>조정을</a:t>
            </a:r>
            <a:r>
              <a:rPr sz="1600" b="1"/>
              <a:t> </a:t>
            </a:r>
            <a:r>
              <a:rPr sz="1600" b="1" err="1"/>
              <a:t>통해</a:t>
            </a:r>
            <a:r>
              <a:rPr sz="1600" b="1"/>
              <a:t> </a:t>
            </a:r>
            <a:r>
              <a:rPr sz="1600" b="1" err="1"/>
              <a:t>학습</a:t>
            </a:r>
            <a:r>
              <a:rPr sz="1600" b="1"/>
              <a:t> </a:t>
            </a:r>
            <a:r>
              <a:rPr sz="1600" b="1" err="1"/>
              <a:t>과정과</a:t>
            </a:r>
            <a:r>
              <a:rPr sz="1600" b="1"/>
              <a:t> </a:t>
            </a:r>
            <a:r>
              <a:rPr sz="1600" b="1" err="1"/>
              <a:t>모델</a:t>
            </a:r>
            <a:r>
              <a:rPr sz="1600" b="1"/>
              <a:t> </a:t>
            </a:r>
            <a:r>
              <a:rPr sz="1600" b="1" err="1"/>
              <a:t>성능</a:t>
            </a:r>
            <a:r>
              <a:rPr sz="1600" b="1"/>
              <a:t> </a:t>
            </a:r>
            <a:r>
              <a:rPr sz="1600" b="1" err="1"/>
              <a:t>개선을</a:t>
            </a:r>
            <a:r>
              <a:rPr sz="1600" b="1"/>
              <a:t> </a:t>
            </a:r>
            <a:r>
              <a:rPr sz="1600" b="1" err="1"/>
              <a:t>직접</a:t>
            </a:r>
            <a:r>
              <a:rPr sz="1600" b="1"/>
              <a:t> </a:t>
            </a:r>
            <a:r>
              <a:rPr sz="1600" b="1" err="1"/>
              <a:t>확인했다</a:t>
            </a:r>
            <a:r>
              <a:rPr sz="1600" b="1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5532120"/>
            <a:ext cx="6400800" cy="594360"/>
          </a:xfrm>
          <a:prstGeom prst="roundRect">
            <a:avLst/>
          </a:prstGeom>
          <a:solidFill>
            <a:srgbClr val="EBF6EF"/>
          </a:solidFill>
          <a:ln>
            <a:solidFill>
              <a:srgbClr val="4C8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4C8265"/>
                </a:solidFill>
                <a:latin typeface="Malgun Gothic"/>
              </a:defRPr>
            </a:pPr>
            <a:r>
              <a:t>데이터 검증 → 모델 비교 → 튜닝 → 성능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30543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0</a:t>
            </a:r>
            <a:r>
              <a:rPr lang="en-US"/>
              <a:t>3</a:t>
            </a:r>
            <a:r>
              <a:t>. </a:t>
            </a:r>
            <a:r>
              <a:rPr err="1"/>
              <a:t>문제</a:t>
            </a:r>
            <a:r>
              <a:t> </a:t>
            </a:r>
            <a:r>
              <a:rPr err="1"/>
              <a:t>정의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46346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rPr lang="ko-KR" altLang="ko-KR" sz="1400">
                <a:solidFill>
                  <a:srgbClr val="5A6470"/>
                </a:solidFill>
                <a:latin typeface="Malgun Gothic"/>
              </a:rPr>
              <a:t>질병 분류 문제를 모델 구조와 실험 설계 관점에서 접근</a:t>
            </a: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212080" cy="4114800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왜 ANN부터 시작했는가?</a:t>
            </a:r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t>① 이미지 전체 픽셀을 펼쳐 선형 분류</a:t>
            </a:r>
            <a:br/>
            <a:r>
              <a:t>② 은닉층을 추가해 비선형 표현력 확인</a:t>
            </a:r>
            <a:br/>
            <a:r>
              <a:t>③ CNN을 적용해 지역적/공간적 특징 추출</a:t>
            </a:r>
            <a:br/>
            <a:br/>
            <a:r>
              <a:t>→ 단순 모델에서 복잡한 모델로 단계적으로 비교하면 '왜 CNN이 필요한가'를 설명할 수 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114800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실험</a:t>
            </a:r>
            <a:r>
              <a:t> </a:t>
            </a:r>
            <a:r>
              <a:rPr lang="ko-KR" altLang="en-US"/>
              <a:t>방향</a:t>
            </a:r>
            <a:endParaRPr lang="en-US" altLang="ko-KR"/>
          </a:p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• </a:t>
            </a:r>
            <a:r>
              <a:rPr err="1"/>
              <a:t>모델만</a:t>
            </a:r>
            <a:r>
              <a:t> </a:t>
            </a:r>
            <a:r>
              <a:rPr err="1"/>
              <a:t>바꾼</a:t>
            </a:r>
            <a:r>
              <a:t> </a:t>
            </a:r>
            <a:r>
              <a:rPr err="1"/>
              <a:t>것이</a:t>
            </a:r>
            <a:r>
              <a:t> </a:t>
            </a:r>
            <a:r>
              <a:rPr err="1"/>
              <a:t>아니라</a:t>
            </a:r>
            <a:r>
              <a:t> </a:t>
            </a:r>
            <a:r>
              <a:rPr err="1"/>
              <a:t>입력</a:t>
            </a:r>
            <a:r>
              <a:t> </a:t>
            </a:r>
            <a:r>
              <a:rPr err="1"/>
              <a:t>크기·정규화·batch·optimizer·epoch를</a:t>
            </a:r>
            <a:r>
              <a:t> </a:t>
            </a:r>
            <a:r>
              <a:rPr err="1"/>
              <a:t>통제</a:t>
            </a:r>
            <a:br>
              <a:rPr/>
            </a:br>
            <a:r>
              <a:t>• </a:t>
            </a:r>
            <a:r>
              <a:rPr err="1"/>
              <a:t>학습이</a:t>
            </a:r>
            <a:r>
              <a:t> </a:t>
            </a:r>
            <a:r>
              <a:rPr err="1"/>
              <a:t>불안정한</a:t>
            </a:r>
            <a:r>
              <a:t> </a:t>
            </a:r>
            <a:r>
              <a:rPr err="1"/>
              <a:t>DNN은</a:t>
            </a:r>
            <a:r>
              <a:t> </a:t>
            </a:r>
            <a:r>
              <a:rPr err="1"/>
              <a:t>초기화</a:t>
            </a:r>
            <a:r>
              <a:t>/</a:t>
            </a:r>
            <a:r>
              <a:rPr err="1"/>
              <a:t>Dropout을</a:t>
            </a:r>
            <a:r>
              <a:t> </a:t>
            </a:r>
            <a:r>
              <a:rPr err="1"/>
              <a:t>수정</a:t>
            </a:r>
            <a:br>
              <a:rPr/>
            </a:br>
            <a:r>
              <a:t>• Best checkpoint </a:t>
            </a:r>
            <a:r>
              <a:rPr err="1"/>
              <a:t>기준으로</a:t>
            </a:r>
            <a:r>
              <a:t> </a:t>
            </a:r>
            <a:r>
              <a:rPr err="1"/>
              <a:t>평가</a:t>
            </a:r>
            <a:br>
              <a:rPr/>
            </a:br>
            <a:r>
              <a:t>• </a:t>
            </a:r>
            <a:r>
              <a:rPr err="1"/>
              <a:t>Accuracy만</a:t>
            </a:r>
            <a:r>
              <a:t> </a:t>
            </a:r>
            <a:r>
              <a:rPr err="1"/>
              <a:t>보지</a:t>
            </a:r>
            <a:r>
              <a:t> </a:t>
            </a:r>
            <a:r>
              <a:rPr err="1"/>
              <a:t>않고</a:t>
            </a:r>
            <a:r>
              <a:t> Precision / Recall / F1 / Confusion </a:t>
            </a:r>
            <a:r>
              <a:rPr err="1"/>
              <a:t>Matrix까지</a:t>
            </a:r>
            <a:r>
              <a:t> </a:t>
            </a:r>
            <a:r>
              <a:rPr err="1"/>
              <a:t>확인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34418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0</a:t>
            </a:r>
            <a:r>
              <a:rPr lang="en-US"/>
              <a:t>4</a:t>
            </a:r>
            <a:r>
              <a:t>. </a:t>
            </a:r>
            <a:r>
              <a:rPr err="1"/>
              <a:t>데이터셋과</a:t>
            </a:r>
            <a:r>
              <a:t> </a:t>
            </a:r>
            <a:r>
              <a:rPr err="1"/>
              <a:t>출처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공개 데이터셋을 사용하되, 프로젝트 실험용 subset을 명확히 정의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03520" cy="448056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원천 데이터셋 · PlantVillage</a:t>
            </a:r>
            <a:endParaRPr lang="en-US"/>
          </a:p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endParaRPr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t>Mohanty, Hughes &amp; Salathé (2016)</a:t>
            </a:r>
            <a:br>
              <a:rPr/>
            </a:br>
            <a:r>
              <a:t>PlantVillage 기반 54,306 images / 14 crop species / 26 diseases(or healthy), 38 classes.</a:t>
            </a:r>
            <a:br>
              <a:rPr/>
            </a:br>
            <a:br>
              <a:rPr/>
            </a:br>
            <a:r>
              <a:t>본 프로젝트에서는 Tomato 계열 중 7개 클래스를 선택해 실험용 데이터셋을 구성.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394960" cy="448056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선택한</a:t>
            </a:r>
            <a:r>
              <a:t> 7개 </a:t>
            </a:r>
            <a:r>
              <a:rPr err="1"/>
              <a:t>클래스</a:t>
            </a:r>
            <a:endParaRPr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500">
                <a:solidFill>
                  <a:srgbClr val="1E2328"/>
                </a:solidFill>
                <a:latin typeface="Malgun Gothic"/>
              </a:defRPr>
            </a:pPr>
            <a:r>
              <a:t>Bacterial spot</a:t>
            </a:r>
            <a:r>
              <a:rPr lang="en-US"/>
              <a:t>                       </a:t>
            </a:r>
            <a:r>
              <a:rPr lang="ko-KR" altLang="ko-KR" sz="1500">
                <a:solidFill>
                  <a:srgbClr val="1E2328"/>
                </a:solidFill>
                <a:latin typeface="Malgun Gothic"/>
              </a:rPr>
              <a:t>세균성 점무늬병</a:t>
            </a:r>
            <a:endParaRPr lang="en-US" altLang="ko-KR" sz="1500">
              <a:solidFill>
                <a:srgbClr val="1E2328"/>
              </a:solidFill>
              <a:latin typeface="Malgun Gothic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500">
                <a:solidFill>
                  <a:srgbClr val="1E2328"/>
                </a:solidFill>
                <a:latin typeface="Malgun Gothic"/>
              </a:defRPr>
            </a:pPr>
            <a:r>
              <a:t>Healthy</a:t>
            </a:r>
            <a:r>
              <a:rPr lang="en-US"/>
              <a:t>                                     </a:t>
            </a:r>
            <a:r>
              <a:rPr lang="ko-KR" altLang="en-US"/>
              <a:t>건강한 잎</a:t>
            </a:r>
            <a:endParaRPr lang="en-US" altLang="ko-KR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500">
                <a:solidFill>
                  <a:srgbClr val="1E2328"/>
                </a:solidFill>
                <a:latin typeface="Malgun Gothic"/>
              </a:defRPr>
            </a:pPr>
            <a:r>
              <a:t>Late blight</a:t>
            </a:r>
            <a:r>
              <a:rPr lang="en-US"/>
              <a:t>                                    </a:t>
            </a:r>
            <a:r>
              <a:rPr lang="ko-KR" altLang="ko-KR" sz="1500">
                <a:solidFill>
                  <a:srgbClr val="1E2328"/>
                </a:solidFill>
                <a:latin typeface="Malgun Gothic"/>
              </a:rPr>
              <a:t>역병</a:t>
            </a:r>
            <a:endParaRPr lang="en-US" altLang="ko-KR" sz="1500">
              <a:solidFill>
                <a:srgbClr val="1E2328"/>
              </a:solidFill>
              <a:latin typeface="Malgun Gothic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500">
                <a:solidFill>
                  <a:srgbClr val="1E2328"/>
                </a:solidFill>
                <a:latin typeface="Malgun Gothic"/>
              </a:defRPr>
            </a:pPr>
            <a:r>
              <a:t>Septoria leaf spot</a:t>
            </a:r>
            <a:r>
              <a:rPr lang="en-US"/>
              <a:t>                </a:t>
            </a:r>
            <a:r>
              <a:rPr lang="ko-KR" altLang="ko-KR" sz="1500" err="1">
                <a:solidFill>
                  <a:srgbClr val="1E2328"/>
                </a:solidFill>
                <a:latin typeface="Malgun Gothic"/>
              </a:rPr>
              <a:t>셉토리아</a:t>
            </a:r>
            <a:r>
              <a:rPr lang="ko-KR" altLang="ko-KR" sz="1500">
                <a:solidFill>
                  <a:srgbClr val="1E2328"/>
                </a:solidFill>
                <a:latin typeface="Malgun Gothic"/>
              </a:rPr>
              <a:t> 잎</a:t>
            </a:r>
            <a:r>
              <a:rPr lang="en-US" altLang="ko-KR" sz="1500">
                <a:solidFill>
                  <a:srgbClr val="1E2328"/>
                </a:solidFill>
                <a:latin typeface="Malgun Gothic"/>
              </a:rPr>
              <a:t> </a:t>
            </a:r>
            <a:r>
              <a:rPr lang="ko-KR" altLang="ko-KR" sz="1500">
                <a:solidFill>
                  <a:srgbClr val="1E2328"/>
                </a:solidFill>
                <a:latin typeface="Malgun Gothic"/>
              </a:rPr>
              <a:t>반점</a:t>
            </a:r>
            <a:r>
              <a:rPr lang="en-US" altLang="ko-KR" sz="1500">
                <a:solidFill>
                  <a:srgbClr val="1E2328"/>
                </a:solidFill>
                <a:latin typeface="Malgun Gothic"/>
              </a:rPr>
              <a:t> </a:t>
            </a:r>
            <a:r>
              <a:rPr lang="ko-KR" altLang="ko-KR" sz="1500">
                <a:solidFill>
                  <a:srgbClr val="1E2328"/>
                </a:solidFill>
                <a:latin typeface="Malgun Gothic"/>
              </a:rPr>
              <a:t>병</a:t>
            </a:r>
            <a:endParaRPr lang="en-US" altLang="ko-KR" sz="1500">
              <a:solidFill>
                <a:srgbClr val="1E2328"/>
              </a:solidFill>
              <a:latin typeface="Malgun Gothic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500">
                <a:solidFill>
                  <a:srgbClr val="1E2328"/>
                </a:solidFill>
                <a:latin typeface="Malgun Gothic"/>
              </a:defRPr>
            </a:pPr>
            <a:r>
              <a:t>Two-spotted spider mite</a:t>
            </a:r>
            <a:r>
              <a:rPr lang="en-US"/>
              <a:t>               </a:t>
            </a:r>
            <a:r>
              <a:rPr lang="ko-KR" altLang="ko-KR" sz="1500" err="1">
                <a:solidFill>
                  <a:srgbClr val="1E2328"/>
                </a:solidFill>
                <a:latin typeface="Malgun Gothic"/>
              </a:rPr>
              <a:t>점박이응애</a:t>
            </a:r>
            <a:endParaRPr lang="en-US" altLang="ko-KR" sz="1500">
              <a:solidFill>
                <a:srgbClr val="1E2328"/>
              </a:solidFill>
              <a:latin typeface="Malgun Gothic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500">
                <a:solidFill>
                  <a:srgbClr val="1E2328"/>
                </a:solidFill>
                <a:latin typeface="Malgun Gothic"/>
              </a:defRPr>
            </a:pPr>
            <a:r>
              <a:rPr lang="en-US" altLang="ko-KR"/>
              <a:t>Target Spot                           </a:t>
            </a:r>
            <a:r>
              <a:rPr lang="en-US" altLang="ko-KR" sz="1400">
                <a:solidFill>
                  <a:srgbClr val="1E2328"/>
                </a:solidFill>
                <a:latin typeface="Malgun Gothic"/>
              </a:rPr>
              <a:t>        </a:t>
            </a:r>
            <a:r>
              <a:rPr lang="ko-KR" altLang="en-US" sz="1400">
                <a:solidFill>
                  <a:srgbClr val="1E2328"/>
                </a:solidFill>
                <a:latin typeface="Malgun Gothic"/>
              </a:rPr>
              <a:t>겹무늬병</a:t>
            </a:r>
            <a:endParaRPr lang="en-US" altLang="ko-KR" sz="1400">
              <a:solidFill>
                <a:srgbClr val="1E2328"/>
              </a:solidFill>
              <a:latin typeface="Malgun Gothic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500">
                <a:solidFill>
                  <a:srgbClr val="1E2328"/>
                </a:solidFill>
                <a:latin typeface="Malgun Gothic"/>
              </a:defRPr>
            </a:pPr>
            <a:r>
              <a:t>Tomato Yellow Leaf Curl Virus</a:t>
            </a:r>
            <a:br>
              <a:rPr/>
            </a:b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출처: Mohanty et al. (2016), Frontiers in Plant Science · https://doi.org/10.3389/fpls.2016.01419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26631-B17B-B06C-E96F-59F59F2EEABC}"/>
              </a:ext>
            </a:extLst>
          </p:cNvPr>
          <p:cNvSpPr txBox="1"/>
          <p:nvPr/>
        </p:nvSpPr>
        <p:spPr>
          <a:xfrm>
            <a:off x="9420161" y="4314715"/>
            <a:ext cx="2675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황화 잎 말림 바이러스 병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4A1C6-19BF-F9D3-5893-629A3AC49C9C}"/>
              </a:ext>
            </a:extLst>
          </p:cNvPr>
          <p:cNvSpPr txBox="1"/>
          <p:nvPr/>
        </p:nvSpPr>
        <p:spPr>
          <a:xfrm>
            <a:off x="695006" y="4704969"/>
            <a:ext cx="61399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>
                <a:solidFill>
                  <a:schemeClr val="bg1">
                    <a:lumMod val="65000"/>
                  </a:schemeClr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frontiersin.org/journals/plant-science/articles/10.3389/fpls.2016.01419/full?utm_source=chatgpt.com</a:t>
            </a:r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5851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0</a:t>
            </a:r>
            <a:r>
              <a:rPr lang="en-US"/>
              <a:t>5</a:t>
            </a:r>
            <a:r>
              <a:t>. </a:t>
            </a:r>
            <a:r>
              <a:rPr err="1"/>
              <a:t>클래스</a:t>
            </a:r>
            <a:r>
              <a:t> </a:t>
            </a:r>
            <a:r>
              <a:rPr err="1"/>
              <a:t>구성과</a:t>
            </a:r>
            <a:r>
              <a:t> </a:t>
            </a:r>
            <a:r>
              <a:rPr err="1"/>
              <a:t>균형화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모델 비교의 공정성을 위해 각 클래스 1,400장으로 맞춤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3319" y="1202742"/>
            <a:ext cx="3931920" cy="438912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lang="en-US" altLang="ko-KR"/>
              <a:t>Bacterial spot   </a:t>
            </a:r>
            <a:r>
              <a:rPr lang="ko-KR" altLang="en-US" sz="1400">
                <a:solidFill>
                  <a:srgbClr val="1E2328"/>
                </a:solidFill>
                <a:latin typeface="Malgun Gothic"/>
              </a:rPr>
              <a:t>세균성 점무늬병</a:t>
            </a: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23362" y="1307592"/>
            <a:ext cx="5212080" cy="274320"/>
          </a:xfrm>
          <a:prstGeom prst="rect">
            <a:avLst/>
          </a:prstGeom>
          <a:solidFill>
            <a:srgbClr val="44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15034" y="1200583"/>
            <a:ext cx="3931920" cy="438912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Healthy</a:t>
            </a:r>
            <a:r>
              <a:rPr lang="en-US"/>
              <a:t>       </a:t>
            </a:r>
            <a:r>
              <a:t>1,400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5239" y="1187361"/>
            <a:ext cx="3931920" cy="438912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Late blight</a:t>
            </a:r>
            <a:r>
              <a:rPr lang="en-US"/>
              <a:t>     </a:t>
            </a:r>
            <a:r>
              <a:t>1,400 images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72956" y="1180356"/>
            <a:ext cx="3391917" cy="438912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Septoria</a:t>
            </a:r>
            <a:r>
              <a:rPr lang="en-US"/>
              <a:t>   </a:t>
            </a:r>
            <a:r>
              <a:t>1,400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740" y="5638345"/>
            <a:ext cx="3931920" cy="438912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Spider mites</a:t>
            </a:r>
            <a:r>
              <a:rPr lang="en-US"/>
              <a:t>    </a:t>
            </a:r>
            <a:r>
              <a:t>1,400 images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87143" y="5646801"/>
            <a:ext cx="3931920" cy="438912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Target Spot</a:t>
            </a:r>
            <a:r>
              <a:rPr lang="en-US"/>
              <a:t>     </a:t>
            </a:r>
            <a:r>
              <a:t>1,400 images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9EA9F11-ED41-EF02-A082-7E026C861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84" y="1653188"/>
            <a:ext cx="1915114" cy="198611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5F668A0-101C-E8C5-6237-42454BA8D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199" y="1644485"/>
            <a:ext cx="1935063" cy="201550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0117CE1-D5A1-DD2C-5EBB-42353DDDF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239" y="3652231"/>
            <a:ext cx="1915114" cy="198611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949103A-5C61-1ECC-58A2-0ECC69FF8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84" y="3639301"/>
            <a:ext cx="1940050" cy="201197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B2EA3F9-6DBC-1101-1297-FC2647D33C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7143" y="1621283"/>
            <a:ext cx="1950948" cy="202327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BED03E53-48E8-3CB4-40DF-6981E56EE8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5034" y="3639301"/>
            <a:ext cx="1915114" cy="199904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0677" y="3807253"/>
            <a:ext cx="63093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43456"/>
                </a:solidFill>
                <a:latin typeface="Malgun Gothic"/>
              </a:defRPr>
            </a:pPr>
            <a:r>
              <a:t>7</a:t>
            </a:r>
            <a:r>
              <a:rPr lang="en-US"/>
              <a:t>Class</a:t>
            </a:r>
            <a:r>
              <a:t> × 1,400</a:t>
            </a:r>
            <a:r>
              <a:rPr lang="ko-KR" altLang="en-US"/>
              <a:t>장</a:t>
            </a:r>
            <a:endParaRPr/>
          </a:p>
          <a:p>
            <a:pPr>
              <a:defRPr sz="2300" b="1">
                <a:solidFill>
                  <a:srgbClr val="D65C56"/>
                </a:solidFill>
                <a:latin typeface="Malgun Gothic"/>
              </a:defRPr>
            </a:pPr>
            <a:r>
              <a:t>= 9,800</a:t>
            </a:r>
            <a:r>
              <a:rPr lang="en-US"/>
              <a:t> </a:t>
            </a:r>
            <a:r>
              <a:rPr lang="ko-KR" altLang="en-US"/>
              <a:t>장</a:t>
            </a:r>
            <a:endParaRPr/>
          </a:p>
          <a:p>
            <a:br>
              <a:rPr/>
            </a:br>
            <a:r>
              <a:rPr err="1"/>
              <a:t>클래스</a:t>
            </a:r>
            <a:r>
              <a:t> </a:t>
            </a:r>
            <a:r>
              <a:rPr err="1"/>
              <a:t>불균형에</a:t>
            </a:r>
            <a:r>
              <a:t> </a:t>
            </a:r>
            <a:r>
              <a:rPr err="1"/>
              <a:t>따른</a:t>
            </a:r>
            <a:r>
              <a:t> </a:t>
            </a:r>
            <a:endParaRPr lang="en-US"/>
          </a:p>
          <a:p>
            <a:r>
              <a:t>accuracy </a:t>
            </a:r>
            <a:r>
              <a:rPr err="1"/>
              <a:t>왜곡을</a:t>
            </a:r>
            <a:r>
              <a:t> </a:t>
            </a:r>
            <a:r>
              <a:rPr err="1"/>
              <a:t>줄이기</a:t>
            </a:r>
            <a:r>
              <a:t> </a:t>
            </a:r>
            <a:r>
              <a:rPr err="1"/>
              <a:t>위한</a:t>
            </a:r>
            <a:r>
              <a:t> </a:t>
            </a:r>
            <a:r>
              <a:rPr err="1"/>
              <a:t>설계</a:t>
            </a: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925340" y="5638345"/>
            <a:ext cx="1993723" cy="438912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Yellow Leaf Curl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2EDCF2BB-B8B5-25AD-2769-FE8A613AD6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9906" y="1668182"/>
            <a:ext cx="1937680" cy="193768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A4D30453-8DC7-0E0F-6CC2-C43DEC176F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759" y="1628845"/>
            <a:ext cx="2023275" cy="2023275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A73E77F1-EE57-9203-FA14-F23FB9D7C7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419" y="3629660"/>
            <a:ext cx="2021615" cy="202161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E167AE56-D2AA-F718-2EB0-8B81C1094B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9906" y="1660786"/>
            <a:ext cx="1930470" cy="19861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46601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0</a:t>
            </a:r>
            <a:r>
              <a:rPr lang="en-US"/>
              <a:t>6</a:t>
            </a:r>
            <a:r>
              <a:t>. </a:t>
            </a:r>
            <a:r>
              <a:rPr err="1"/>
              <a:t>데이터</a:t>
            </a:r>
            <a:r>
              <a:t> </a:t>
            </a:r>
            <a:r>
              <a:rPr err="1"/>
              <a:t>누수</a:t>
            </a:r>
            <a:r>
              <a:t> </a:t>
            </a:r>
            <a:r>
              <a:rPr err="1"/>
              <a:t>검증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같은 이미지가 train/validation에 동시에 들어가면 성능이 부풀 수 있기 때문에 SHA-256 중복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468880" cy="123444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43456"/>
                </a:solidFill>
                <a:latin typeface="Malgun Gothic"/>
              </a:defRPr>
            </a:pPr>
            <a:r>
              <a:t>9,800</a:t>
            </a:r>
          </a:p>
          <a:p>
            <a:pPr algn="ctr">
              <a:defRPr sz="1200">
                <a:solidFill>
                  <a:srgbClr val="5A6470"/>
                </a:solidFill>
                <a:latin typeface="Malgun Gothic"/>
              </a:defRPr>
            </a:pPr>
            <a:r>
              <a:t>최종 이미지 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25880"/>
            <a:ext cx="2468880" cy="123444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43456"/>
                </a:solidFill>
                <a:latin typeface="Malgun Gothic"/>
              </a:defRPr>
            </a:pPr>
            <a:r>
              <a:t>9,800</a:t>
            </a:r>
          </a:p>
          <a:p>
            <a:pPr algn="ctr">
              <a:defRPr sz="1200">
                <a:solidFill>
                  <a:srgbClr val="5A6470"/>
                </a:solidFill>
                <a:latin typeface="Malgun Gothic"/>
              </a:defRPr>
            </a:pPr>
            <a:r>
              <a:t>고유 SHA-256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25880"/>
            <a:ext cx="2468880" cy="123444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43456"/>
                </a:solidFill>
                <a:latin typeface="Malgun Gothic"/>
              </a:defRPr>
            </a:pPr>
            <a:r>
              <a:t>0</a:t>
            </a:r>
          </a:p>
          <a:p>
            <a:pPr algn="ctr">
              <a:defRPr sz="1200">
                <a:solidFill>
                  <a:srgbClr val="5A6470"/>
                </a:solidFill>
                <a:latin typeface="Malgun Gothic"/>
              </a:defRPr>
            </a:pPr>
            <a:r>
              <a:t>cross-split duplicates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325880"/>
            <a:ext cx="2468880" cy="123444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43456"/>
                </a:solidFill>
                <a:latin typeface="Malgun Gothic"/>
              </a:defRPr>
            </a:pPr>
            <a:r>
              <a:t>70 / 15 / 15</a:t>
            </a:r>
          </a:p>
          <a:p>
            <a:pPr algn="ctr">
              <a:defRPr sz="1200">
                <a:solidFill>
                  <a:srgbClr val="5A6470"/>
                </a:solidFill>
                <a:latin typeface="Malgun Gothic"/>
              </a:defRPr>
            </a:pPr>
            <a:r>
              <a:t>Train / Val /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105156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검증</a:t>
            </a:r>
            <a:r>
              <a:t> </a:t>
            </a:r>
            <a:r>
              <a:rPr err="1"/>
              <a:t>결과</a:t>
            </a:r>
            <a:endParaRPr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rPr err="1"/>
              <a:t>초기</a:t>
            </a:r>
            <a:r>
              <a:t> </a:t>
            </a:r>
            <a:r>
              <a:rPr err="1"/>
              <a:t>구성에서</a:t>
            </a:r>
            <a:r>
              <a:t> </a:t>
            </a:r>
            <a:r>
              <a:rPr err="1"/>
              <a:t>클래스</a:t>
            </a:r>
            <a:r>
              <a:t> </a:t>
            </a:r>
            <a:r>
              <a:rPr err="1"/>
              <a:t>내부</a:t>
            </a:r>
            <a:r>
              <a:t> SHA-256 </a:t>
            </a:r>
            <a:r>
              <a:rPr err="1"/>
              <a:t>중복이</a:t>
            </a:r>
            <a:r>
              <a:t> </a:t>
            </a:r>
            <a:r>
              <a:rPr err="1"/>
              <a:t>확인되어</a:t>
            </a:r>
            <a:r>
              <a:t> </a:t>
            </a:r>
            <a:r>
              <a:rPr err="1"/>
              <a:t>최종</a:t>
            </a:r>
            <a:r>
              <a:t> </a:t>
            </a:r>
            <a:r>
              <a:rPr err="1"/>
              <a:t>데이터셋을</a:t>
            </a:r>
            <a:r>
              <a:t> </a:t>
            </a:r>
            <a:r>
              <a:rPr err="1"/>
              <a:t>재구성했다</a:t>
            </a:r>
            <a:r>
              <a:t>. </a:t>
            </a:r>
            <a:endParaRPr lang="en-US"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rPr err="1"/>
              <a:t>최종</a:t>
            </a:r>
            <a:r>
              <a:t> clean </a:t>
            </a:r>
            <a:r>
              <a:rPr err="1"/>
              <a:t>dataset에서는</a:t>
            </a:r>
            <a:r>
              <a:t> </a:t>
            </a:r>
            <a:r>
              <a:rPr err="1"/>
              <a:t>전체</a:t>
            </a:r>
            <a:r>
              <a:t> 9,800장이 </a:t>
            </a:r>
            <a:r>
              <a:rPr err="1"/>
              <a:t>모두</a:t>
            </a:r>
            <a:r>
              <a:t> unique </a:t>
            </a:r>
            <a:r>
              <a:rPr err="1"/>
              <a:t>hash이며</a:t>
            </a:r>
            <a:r>
              <a:t> </a:t>
            </a:r>
            <a:r>
              <a:rPr err="1"/>
              <a:t>train↔validation</a:t>
            </a:r>
            <a:r>
              <a:t> 등 split 간 </a:t>
            </a:r>
            <a:r>
              <a:rPr err="1"/>
              <a:t>중복이</a:t>
            </a:r>
            <a:r>
              <a:t> 0건이다.</a:t>
            </a:r>
            <a:br>
              <a:rPr/>
            </a:b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1976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0</a:t>
            </a:r>
            <a:r>
              <a:rPr lang="en-US"/>
              <a:t>7</a:t>
            </a:r>
            <a:r>
              <a:t>. </a:t>
            </a:r>
            <a:r>
              <a:rPr err="1"/>
              <a:t>실험</a:t>
            </a:r>
            <a:r>
              <a:t> </a:t>
            </a:r>
            <a:r>
              <a:rPr err="1"/>
              <a:t>조건</a:t>
            </a:r>
            <a:r>
              <a:t> </a:t>
            </a:r>
            <a:r>
              <a:rPr err="1"/>
              <a:t>통제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모델 구조의 영향을 보기 위해 공통 조건을 최대한 동일하게 유지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223941"/>
              </p:ext>
            </p:extLst>
          </p:nvPr>
        </p:nvGraphicFramePr>
        <p:xfrm>
          <a:off x="502920" y="1234440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항목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ANN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DNN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CNN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Framework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Keras / PyTorch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Keras / PyTorch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Keras / PyTorch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Input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64×64×3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64×64×3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128×128×3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Batch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32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32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32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Optimizer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Adam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Adam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Adam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Learning rate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0.001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0.001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0.001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Epochs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30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30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30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Augmentation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lang="ko-KR" altLang="en-US"/>
                        <a:t>증강</a:t>
                      </a:r>
                      <a:r>
                        <a:t> 안 함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lang="ko-KR" altLang="en-US"/>
                        <a:t>증강</a:t>
                      </a:r>
                      <a:r>
                        <a:t> 안 함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lang="ko-KR" altLang="en-US"/>
                        <a:t>증강</a:t>
                      </a:r>
                      <a:r>
                        <a:t> 안 함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Dropout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없음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0.5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0.5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806440"/>
            <a:ext cx="10424160" cy="66751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평가</a:t>
            </a:r>
            <a:r>
              <a:t> </a:t>
            </a:r>
            <a:r>
              <a:rPr err="1"/>
              <a:t>원칙</a:t>
            </a:r>
            <a:endParaRPr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t>Best validation </a:t>
            </a:r>
            <a:r>
              <a:rPr err="1"/>
              <a:t>checkpoint를</a:t>
            </a:r>
            <a:r>
              <a:t> </a:t>
            </a:r>
            <a:r>
              <a:rPr err="1"/>
              <a:t>복원한</a:t>
            </a:r>
            <a:r>
              <a:t> 뒤 </a:t>
            </a:r>
            <a:r>
              <a:rPr err="1"/>
              <a:t>동일한</a:t>
            </a:r>
            <a:r>
              <a:t> test </a:t>
            </a:r>
            <a:r>
              <a:rPr err="1"/>
              <a:t>set에서</a:t>
            </a:r>
            <a:r>
              <a:t> </a:t>
            </a:r>
            <a:r>
              <a:rPr err="1"/>
              <a:t>최종</a:t>
            </a:r>
            <a:r>
              <a:t> </a:t>
            </a:r>
            <a:r>
              <a:rPr err="1"/>
              <a:t>성능을</a:t>
            </a:r>
            <a:r>
              <a:t> </a:t>
            </a:r>
            <a:r>
              <a:rPr err="1"/>
              <a:t>비교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17160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0</a:t>
            </a:r>
            <a:r>
              <a:rPr lang="en-US"/>
              <a:t>8</a:t>
            </a:r>
            <a:r>
              <a:t>. Baseline ① — </a:t>
            </a:r>
            <a:r>
              <a:rPr err="1"/>
              <a:t>단일층</a:t>
            </a:r>
            <a:r>
              <a:t> 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이미지 픽셀을 Flatten하여 바로 7개 클래스로 분류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3657600" cy="384048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3456"/>
                </a:solidFill>
                <a:latin typeface="Malgun Gothic"/>
              </a:defRPr>
            </a:pPr>
            <a:r>
              <a:t>64×64×3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91639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0"/>
                </a:solidFill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19656"/>
            <a:ext cx="3657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3456"/>
                </a:solidFill>
                <a:latin typeface="Malgun Gothic"/>
              </a:defRPr>
            </a:pPr>
            <a:r>
              <a:t>Flatten → 12,288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8541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0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13432"/>
            <a:ext cx="3657600" cy="384048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3456"/>
                </a:solidFill>
                <a:latin typeface="Malgun Gothic"/>
              </a:defRPr>
            </a:pPr>
            <a:r>
              <a:t>Dense / Linear →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7919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0"/>
                </a:solidFill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07208"/>
            <a:ext cx="3657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3456"/>
                </a:solidFill>
                <a:latin typeface="Malgun Gothic"/>
              </a:defRPr>
            </a:pPr>
            <a:r>
              <a:t>Softmax / class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486864"/>
            <a:ext cx="5760720" cy="3377592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lang="ko-KR" altLang="en-US"/>
              <a:t>왜 </a:t>
            </a:r>
            <a:r>
              <a:rPr lang="en-US"/>
              <a:t>baseline</a:t>
            </a:r>
            <a:r>
              <a:rPr lang="ko-KR" altLang="en-US"/>
              <a:t>인가</a:t>
            </a:r>
            <a:r>
              <a:rPr lang="en-US" altLang="ko-KR"/>
              <a:t>?</a:t>
            </a:r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t>• </a:t>
            </a:r>
            <a:r>
              <a:rPr err="1"/>
              <a:t>공간</a:t>
            </a:r>
            <a:r>
              <a:t> </a:t>
            </a:r>
            <a:r>
              <a:rPr err="1"/>
              <a:t>구조를</a:t>
            </a:r>
            <a:r>
              <a:t> </a:t>
            </a:r>
            <a:r>
              <a:rPr err="1"/>
              <a:t>고려하지</a:t>
            </a:r>
            <a:r>
              <a:t> </a:t>
            </a:r>
            <a:r>
              <a:rPr err="1"/>
              <a:t>않고</a:t>
            </a:r>
            <a:r>
              <a:t> </a:t>
            </a:r>
            <a:r>
              <a:rPr err="1"/>
              <a:t>픽셀을</a:t>
            </a:r>
            <a:r>
              <a:t> 1차원으로 </a:t>
            </a:r>
            <a:r>
              <a:rPr err="1"/>
              <a:t>취급</a:t>
            </a:r>
            <a:br>
              <a:rPr/>
            </a:br>
            <a:r>
              <a:t>• </a:t>
            </a:r>
            <a:r>
              <a:rPr err="1"/>
              <a:t>학습</a:t>
            </a:r>
            <a:r>
              <a:t> </a:t>
            </a:r>
            <a:r>
              <a:rPr err="1"/>
              <a:t>가능한</a:t>
            </a:r>
            <a:r>
              <a:t> </a:t>
            </a:r>
            <a:r>
              <a:rPr err="1"/>
              <a:t>은닉층이</a:t>
            </a:r>
            <a:r>
              <a:t> </a:t>
            </a:r>
            <a:r>
              <a:rPr err="1"/>
              <a:t>없어</a:t>
            </a:r>
            <a:r>
              <a:t> </a:t>
            </a:r>
            <a:r>
              <a:rPr err="1"/>
              <a:t>모델</a:t>
            </a:r>
            <a:r>
              <a:t> </a:t>
            </a:r>
            <a:r>
              <a:rPr err="1"/>
              <a:t>용량이</a:t>
            </a:r>
            <a:r>
              <a:t> </a:t>
            </a:r>
            <a:r>
              <a:rPr err="1"/>
              <a:t>제한됨</a:t>
            </a:r>
            <a:br>
              <a:rPr/>
            </a:br>
            <a:r>
              <a:t>• CNN </a:t>
            </a:r>
            <a:r>
              <a:rPr err="1"/>
              <a:t>성능이</a:t>
            </a:r>
            <a:r>
              <a:t> </a:t>
            </a:r>
            <a:r>
              <a:rPr err="1"/>
              <a:t>높은</a:t>
            </a:r>
            <a:r>
              <a:t> </a:t>
            </a:r>
            <a:r>
              <a:rPr err="1"/>
              <a:t>이유를</a:t>
            </a:r>
            <a:r>
              <a:t> </a:t>
            </a:r>
            <a:r>
              <a:rPr err="1"/>
              <a:t>비교하기</a:t>
            </a:r>
            <a:r>
              <a:t> </a:t>
            </a:r>
            <a:r>
              <a:rPr err="1"/>
              <a:t>위한</a:t>
            </a:r>
            <a:r>
              <a:t> </a:t>
            </a:r>
            <a:r>
              <a:rPr err="1"/>
              <a:t>기준선</a:t>
            </a:r>
            <a:br>
              <a:rPr/>
            </a:br>
            <a:br>
              <a:rPr/>
            </a:br>
            <a:r>
              <a:rPr err="1"/>
              <a:t>Keras</a:t>
            </a:r>
            <a:r>
              <a:t> ANN: 70.07%</a:t>
            </a:r>
            <a:br>
              <a:rPr/>
            </a:br>
            <a:r>
              <a:rPr err="1"/>
              <a:t>PyTorch</a:t>
            </a:r>
            <a:r>
              <a:t> ANN: 72.65%</a:t>
            </a:r>
            <a:br>
              <a:rPr/>
            </a:b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47CF413-8B6F-FB47-C9C8-937B886FF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2495"/>
            <a:ext cx="4003760" cy="247574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FA715ED-5FEF-9573-D024-7FA3B4F5F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607" y="3989066"/>
            <a:ext cx="4151635" cy="25671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F19F19-5FD5-267A-40C2-C07D426BE413}"/>
              </a:ext>
            </a:extLst>
          </p:cNvPr>
          <p:cNvSpPr txBox="1"/>
          <p:nvPr/>
        </p:nvSpPr>
        <p:spPr>
          <a:xfrm>
            <a:off x="4774518" y="140616"/>
            <a:ext cx="1767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인공신경망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02546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0</a:t>
            </a:r>
            <a:r>
              <a:rPr lang="en-US"/>
              <a:t>9</a:t>
            </a:r>
            <a:r>
              <a:t>. Baseline ② — DNN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비선형 은닉층을 3개 쌓아 표현력을 확장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931920" cy="384048"/>
          </a:xfrm>
          <a:prstGeom prst="roundRect">
            <a:avLst/>
          </a:prstGeom>
          <a:solidFill>
            <a:srgbClr val="E7F2FB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3456"/>
                </a:solidFill>
                <a:latin typeface="Malgun Gothic"/>
              </a:defRPr>
            </a:pPr>
            <a:r>
              <a:t>64×64×3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79" y="160020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0"/>
                </a:solidFill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28216"/>
            <a:ext cx="3931920" cy="384048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3456"/>
                </a:solidFill>
                <a:latin typeface="Malgun Gothic"/>
              </a:defRPr>
            </a:pPr>
            <a:r>
              <a:t>Flatten 12,288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209397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0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21992"/>
            <a:ext cx="3931920" cy="384048"/>
          </a:xfrm>
          <a:prstGeom prst="roundRect">
            <a:avLst/>
          </a:prstGeom>
          <a:solidFill>
            <a:srgbClr val="E7F2FB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3456"/>
                </a:solidFill>
                <a:latin typeface="Malgun Gothic"/>
              </a:defRPr>
            </a:pPr>
            <a:r>
              <a:t>Dense/Linear 128 + ReLU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79" y="258775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0"/>
                </a:solidFill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15768"/>
            <a:ext cx="3931920" cy="384048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3456"/>
                </a:solidFill>
                <a:latin typeface="Malgun Gothic"/>
              </a:defRPr>
            </a:pPr>
            <a:r>
              <a:t>Dense/Linear 64 + ReLU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308152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0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09544"/>
            <a:ext cx="3931920" cy="384048"/>
          </a:xfrm>
          <a:prstGeom prst="roundRect">
            <a:avLst/>
          </a:prstGeom>
          <a:solidFill>
            <a:srgbClr val="E7F2FB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3456"/>
                </a:solidFill>
                <a:latin typeface="Malgun Gothic"/>
              </a:defRPr>
            </a:pPr>
            <a:r>
              <a:t>Dense/Linear 32 + ReLU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357530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0"/>
                </a:solidFill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03320"/>
            <a:ext cx="3931920" cy="384048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3456"/>
                </a:solidFill>
                <a:latin typeface="Malgun Gothic"/>
              </a:defRPr>
            </a:pPr>
            <a:r>
              <a:t>Dropout 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406908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0"/>
                </a:solidFill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97096"/>
            <a:ext cx="3931920" cy="384048"/>
          </a:xfrm>
          <a:prstGeom prst="roundRect">
            <a:avLst/>
          </a:prstGeom>
          <a:solidFill>
            <a:srgbClr val="E7F2FB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3456"/>
                </a:solidFill>
                <a:latin typeface="Malgun Gothic"/>
              </a:defRPr>
            </a:pPr>
            <a:r>
              <a:t>Output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6840" y="580026"/>
            <a:ext cx="6400800" cy="3662790"/>
          </a:xfrm>
          <a:prstGeom prst="roundRect">
            <a:avLst/>
          </a:prstGeom>
          <a:solidFill>
            <a:srgbClr val="E7F2FB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DNN </a:t>
            </a:r>
            <a:r>
              <a:rPr err="1"/>
              <a:t>실험에서</a:t>
            </a:r>
            <a:r>
              <a:t> </a:t>
            </a:r>
            <a:r>
              <a:rPr err="1"/>
              <a:t>확인한</a:t>
            </a:r>
            <a:r>
              <a:t> 것</a:t>
            </a:r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rPr err="1"/>
              <a:t>Keras</a:t>
            </a:r>
            <a:r>
              <a:t> DNN</a:t>
            </a:r>
            <a:br>
              <a:rPr/>
            </a:br>
            <a:r>
              <a:t>• He Normal </a:t>
            </a:r>
            <a:r>
              <a:rPr err="1"/>
              <a:t>초기화</a:t>
            </a:r>
            <a:r>
              <a:t> + Dropout 0.5</a:t>
            </a:r>
            <a:br>
              <a:rPr/>
            </a:br>
            <a:r>
              <a:t>• Test Accuracy 74.48%</a:t>
            </a:r>
            <a:br>
              <a:rPr/>
            </a:br>
            <a:br>
              <a:rPr/>
            </a:br>
            <a:r>
              <a:rPr err="1"/>
              <a:t>PyTorch</a:t>
            </a:r>
            <a:r>
              <a:t> DNN</a:t>
            </a:r>
            <a:br>
              <a:rPr/>
            </a:br>
            <a:r>
              <a:t>• </a:t>
            </a:r>
            <a:r>
              <a:rPr err="1"/>
              <a:t>기본</a:t>
            </a:r>
            <a:r>
              <a:t> Linear </a:t>
            </a:r>
            <a:r>
              <a:rPr err="1"/>
              <a:t>초기화</a:t>
            </a:r>
            <a:r>
              <a:t> + Dropout 0.5</a:t>
            </a:r>
            <a:br>
              <a:rPr/>
            </a:br>
            <a:r>
              <a:t>• Test Accuracy 74.34%</a:t>
            </a:r>
            <a:br>
              <a:rPr/>
            </a:br>
            <a:br>
              <a:rPr/>
            </a:br>
            <a:r>
              <a:t>→ </a:t>
            </a:r>
            <a:r>
              <a:rPr err="1"/>
              <a:t>은닉층</a:t>
            </a:r>
            <a:r>
              <a:t> </a:t>
            </a:r>
            <a:r>
              <a:rPr err="1"/>
              <a:t>추가만으로</a:t>
            </a:r>
            <a:r>
              <a:t> ANN </a:t>
            </a:r>
            <a:r>
              <a:rPr err="1"/>
              <a:t>대비</a:t>
            </a:r>
            <a:r>
              <a:t> </a:t>
            </a:r>
            <a:r>
              <a:rPr err="1"/>
              <a:t>성능이</a:t>
            </a:r>
            <a:r>
              <a:t> </a:t>
            </a:r>
            <a:r>
              <a:rPr err="1"/>
              <a:t>상승했지만</a:t>
            </a:r>
            <a:r>
              <a:t>, </a:t>
            </a:r>
            <a:r>
              <a:rPr err="1"/>
              <a:t>이미지의</a:t>
            </a:r>
            <a:r>
              <a:t> 2D </a:t>
            </a:r>
            <a:r>
              <a:rPr err="1"/>
              <a:t>공간</a:t>
            </a:r>
            <a:r>
              <a:t> </a:t>
            </a:r>
            <a:r>
              <a:rPr err="1"/>
              <a:t>구조를</a:t>
            </a:r>
            <a:r>
              <a:t> </a:t>
            </a:r>
            <a:r>
              <a:rPr err="1"/>
              <a:t>직접</a:t>
            </a:r>
            <a:r>
              <a:t> </a:t>
            </a:r>
            <a:r>
              <a:rPr err="1"/>
              <a:t>이용하지</a:t>
            </a:r>
            <a:r>
              <a:t> </a:t>
            </a:r>
            <a:r>
              <a:rPr err="1"/>
              <a:t>않아</a:t>
            </a:r>
            <a:r>
              <a:t> </a:t>
            </a:r>
            <a:r>
              <a:rPr err="1"/>
              <a:t>CNN과의</a:t>
            </a:r>
            <a:r>
              <a:t> </a:t>
            </a:r>
            <a:r>
              <a:rPr err="1"/>
              <a:t>격차가</a:t>
            </a:r>
            <a:r>
              <a:t> </a:t>
            </a:r>
            <a:r>
              <a:rPr err="1"/>
              <a:t>남았다</a:t>
            </a:r>
            <a: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BD8C60D-7475-E7F6-8277-7DC84238B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561" y="4297680"/>
            <a:ext cx="4094778" cy="253288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6590F5B-AE51-A3D4-EB57-804B7E635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082" y="4270248"/>
            <a:ext cx="4161870" cy="260604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CE72EFE-8AB6-A330-AB8F-5241DBE30FD5}"/>
              </a:ext>
            </a:extLst>
          </p:cNvPr>
          <p:cNvSpPr txBox="1"/>
          <p:nvPr/>
        </p:nvSpPr>
        <p:spPr>
          <a:xfrm>
            <a:off x="3642564" y="152599"/>
            <a:ext cx="1767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심층신경망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50210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rPr lang="en-US"/>
              <a:t>10</a:t>
            </a:r>
            <a:r>
              <a:t>. CNN </a:t>
            </a:r>
            <a:r>
              <a:rPr err="1"/>
              <a:t>설계</a:t>
            </a:r>
            <a:r>
              <a:t> — 왜 </a:t>
            </a:r>
            <a:r>
              <a:rPr err="1"/>
              <a:t>구조가</a:t>
            </a:r>
            <a:r>
              <a:t> </a:t>
            </a:r>
            <a:r>
              <a:rPr err="1"/>
              <a:t>달라지는가</a:t>
            </a: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이미지의 지역적 패턴을 단계적으로 추출하도록 convolution + pooling을 사용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246120" cy="4389120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1단계 · </a:t>
            </a:r>
            <a:r>
              <a:rPr err="1"/>
              <a:t>저수준</a:t>
            </a:r>
            <a:endParaRPr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t>Conv 32</a:t>
            </a:r>
            <a:br>
              <a:rPr/>
            </a:br>
            <a:r>
              <a:t>→ Edge / color change</a:t>
            </a:r>
            <a:br>
              <a:rPr/>
            </a:br>
            <a:r>
              <a:t>→ </a:t>
            </a:r>
            <a:r>
              <a:rPr err="1"/>
              <a:t>MaxPooling</a:t>
            </a:r>
            <a:br>
              <a:rPr/>
            </a:br>
            <a:br>
              <a:rPr/>
            </a:br>
            <a:r>
              <a:rPr err="1"/>
              <a:t>입력</a:t>
            </a:r>
            <a:r>
              <a:t> </a:t>
            </a:r>
            <a:r>
              <a:rPr err="1"/>
              <a:t>이미지에서</a:t>
            </a:r>
            <a:r>
              <a:t> </a:t>
            </a:r>
            <a:r>
              <a:rPr err="1"/>
              <a:t>국소적인</a:t>
            </a:r>
            <a:r>
              <a:t> </a:t>
            </a:r>
            <a:r>
              <a:rPr err="1"/>
              <a:t>변화에</a:t>
            </a:r>
            <a:r>
              <a:t> </a:t>
            </a:r>
            <a:r>
              <a:rPr err="1"/>
              <a:t>반응하는</a:t>
            </a:r>
            <a:r>
              <a:t> </a:t>
            </a:r>
            <a:r>
              <a:rPr err="1"/>
              <a:t>특징을</a:t>
            </a:r>
            <a:r>
              <a:t> </a:t>
            </a:r>
            <a:r>
              <a:rPr err="1"/>
              <a:t>추출</a:t>
            </a: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60520" y="1280160"/>
            <a:ext cx="3246120" cy="438912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498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2단계 · </a:t>
            </a:r>
            <a:r>
              <a:rPr err="1"/>
              <a:t>중간</a:t>
            </a:r>
            <a:r>
              <a:t> </a:t>
            </a:r>
            <a:r>
              <a:rPr err="1"/>
              <a:t>특징</a:t>
            </a:r>
            <a:endParaRPr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t>Conv 64</a:t>
            </a:r>
            <a:br>
              <a:rPr/>
            </a:br>
            <a:r>
              <a:t>→ Texture / shape</a:t>
            </a:r>
            <a:br>
              <a:rPr/>
            </a:br>
            <a:r>
              <a:t>→ </a:t>
            </a:r>
            <a:r>
              <a:rPr err="1"/>
              <a:t>MaxPooling</a:t>
            </a:r>
            <a:br>
              <a:rPr/>
            </a:br>
            <a:br>
              <a:rPr/>
            </a:br>
            <a:r>
              <a:t>앞 </a:t>
            </a:r>
            <a:r>
              <a:rPr err="1"/>
              <a:t>단계의</a:t>
            </a:r>
            <a:r>
              <a:t> </a:t>
            </a:r>
            <a:r>
              <a:rPr err="1"/>
              <a:t>특징을</a:t>
            </a:r>
            <a:r>
              <a:t> </a:t>
            </a:r>
            <a:r>
              <a:rPr err="1"/>
              <a:t>조합해</a:t>
            </a:r>
            <a:r>
              <a:t> 더 </a:t>
            </a:r>
            <a:r>
              <a:rPr err="1"/>
              <a:t>복잡한</a:t>
            </a:r>
            <a:r>
              <a:t> </a:t>
            </a:r>
            <a:r>
              <a:rPr err="1"/>
              <a:t>패턴을</a:t>
            </a:r>
            <a:r>
              <a:t> </a:t>
            </a:r>
            <a:r>
              <a:rPr err="1"/>
              <a:t>표현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80960" y="1280160"/>
            <a:ext cx="3246120" cy="43891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3단계 · </a:t>
            </a:r>
            <a:r>
              <a:rPr err="1"/>
              <a:t>고수준</a:t>
            </a:r>
            <a:endParaRPr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t>Conv 128</a:t>
            </a:r>
            <a:br>
              <a:rPr/>
            </a:br>
            <a:r>
              <a:t>→ Abstract pattern</a:t>
            </a:r>
            <a:br>
              <a:rPr/>
            </a:br>
            <a:r>
              <a:t>→ Flatten → Dense 128</a:t>
            </a:r>
            <a:br>
              <a:rPr/>
            </a:br>
            <a:r>
              <a:t>→ Dropout 0.5 → 7 classes</a:t>
            </a:r>
            <a:endParaRPr lang="en-US"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구조 설명 참고: Keras / PyTorch 공식 layer documentation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36DE5-E159-0320-569B-44F1246EF500}"/>
              </a:ext>
            </a:extLst>
          </p:cNvPr>
          <p:cNvSpPr txBox="1"/>
          <p:nvPr/>
        </p:nvSpPr>
        <p:spPr>
          <a:xfrm>
            <a:off x="1184424" y="634392"/>
            <a:ext cx="1767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err="1"/>
              <a:t>합성곱신경망</a:t>
            </a:r>
            <a:endParaRPr lang="ko-KR" alt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64128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1</a:t>
            </a:r>
            <a:r>
              <a:rPr lang="en-US"/>
              <a:t>1</a:t>
            </a:r>
            <a:r>
              <a:t>. </a:t>
            </a:r>
            <a:r>
              <a:rPr err="1"/>
              <a:t>최종</a:t>
            </a:r>
            <a:r>
              <a:t> 6개 </a:t>
            </a:r>
            <a:r>
              <a:rPr err="1"/>
              <a:t>아키텍처</a:t>
            </a:r>
            <a:r>
              <a:t> </a:t>
            </a:r>
            <a:r>
              <a:rPr err="1"/>
              <a:t>한눈에</a:t>
            </a:r>
            <a:r>
              <a:t> </a:t>
            </a:r>
            <a:r>
              <a:rPr err="1"/>
              <a:t>보기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프레임워크를 바꿔도 대응 모델의 핵심 구조는 동일하게 설계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414335"/>
              </p:ext>
            </p:extLst>
          </p:nvPr>
        </p:nvGraphicFramePr>
        <p:xfrm>
          <a:off x="411480" y="1188720"/>
          <a:ext cx="1067386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5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5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400"/>
                        <a:t>Model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400"/>
                        <a:t>Input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400"/>
                        <a:t>Architecture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400"/>
                        <a:t>Test Acc.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Keras ANN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64×64×3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Flatten → Dense(7)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70.07%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PyTorch ANN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64×64×3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Flatten → Linear(7)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72.65%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Keras DNN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64×64×3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Flatten → 128 → 64 → 32 → 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74.48%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PyTorch DNN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64×64×3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Flatten → 128 → 64 → 32 → 7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74.34%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Keras CNN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128×128×3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Conv32 → Pool → Conv64 → Pool → Conv128 → Pool → Dense128 → 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94.72%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PyTorch CNN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128×128×3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Conv32 → Pool → Conv64 → Pool → Conv128 → Pool → Linear128 → 7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94.11%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38750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1</a:t>
            </a:r>
            <a:r>
              <a:rPr lang="en-US"/>
              <a:t>2</a:t>
            </a:r>
            <a:r>
              <a:t>. </a:t>
            </a:r>
            <a:r>
              <a:rPr err="1"/>
              <a:t>하이퍼파라미터</a:t>
            </a:r>
            <a:r>
              <a:t> — '</a:t>
            </a:r>
            <a:r>
              <a:rPr err="1"/>
              <a:t>무엇을</a:t>
            </a:r>
            <a:r>
              <a:t> </a:t>
            </a:r>
            <a:r>
              <a:rPr err="1"/>
              <a:t>고정하고</a:t>
            </a:r>
            <a:r>
              <a:t> </a:t>
            </a:r>
            <a:r>
              <a:rPr err="1"/>
              <a:t>무엇을</a:t>
            </a:r>
            <a:r>
              <a:t> </a:t>
            </a:r>
            <a:r>
              <a:rPr err="1"/>
              <a:t>바꿨는가</a:t>
            </a:r>
            <a:r>
              <a:t>?'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단순히 결과 숫자를 나열하지 않고 변경의 목적을 설명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418831"/>
              </p:ext>
            </p:extLst>
          </p:nvPr>
        </p:nvGraphicFramePr>
        <p:xfrm>
          <a:off x="457200" y="1143000"/>
          <a:ext cx="10104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400"/>
                        <a:t>Hyperparameter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400"/>
                        <a:t>Final setting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400"/>
                        <a:t>역할 / 판단 기준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Input size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ANN/DNN 64×64 · CNN 128×128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DNN 계산량을 줄이고 CNN은 공간 정보 손실을 줄이기 위해 128 사용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Batch size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32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모델 간 동일 조건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Optimizer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Adam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초기 실험의 안정적인 기본 optimizer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Learning rate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0.001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학습 속도와 안정성의 baseline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Epoch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30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모델 간 동일한 학습 budget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Dropout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DNN/CNN 0.5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 err="1"/>
                        <a:t>과적합</a:t>
                      </a:r>
                      <a:r>
                        <a:rPr sz="1400"/>
                        <a:t> </a:t>
                      </a:r>
                      <a:r>
                        <a:rPr sz="1400" err="1"/>
                        <a:t>완화</a:t>
                      </a:r>
                      <a:r>
                        <a:rPr sz="1400"/>
                        <a:t> </a:t>
                      </a:r>
                      <a:r>
                        <a:rPr sz="1400" err="1"/>
                        <a:t>목적</a:t>
                      </a:r>
                      <a:endParaRPr sz="14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Initialization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Keras DNN: He Normal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 err="1"/>
                        <a:t>ReLU</a:t>
                      </a:r>
                      <a:r>
                        <a:rPr sz="1400"/>
                        <a:t> </a:t>
                      </a:r>
                      <a:r>
                        <a:rPr sz="1400" err="1"/>
                        <a:t>기반</a:t>
                      </a:r>
                      <a:r>
                        <a:rPr sz="1400"/>
                        <a:t> DNN </a:t>
                      </a:r>
                      <a:r>
                        <a:rPr sz="1400" err="1"/>
                        <a:t>학습</a:t>
                      </a:r>
                      <a:r>
                        <a:rPr sz="1400"/>
                        <a:t> </a:t>
                      </a:r>
                      <a:r>
                        <a:rPr sz="1400" err="1"/>
                        <a:t>안정화</a:t>
                      </a:r>
                      <a:r>
                        <a:rPr sz="1400"/>
                        <a:t> </a:t>
                      </a:r>
                      <a:r>
                        <a:rPr sz="1400" err="1"/>
                        <a:t>목적</a:t>
                      </a:r>
                      <a:endParaRPr sz="140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Augmentation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/>
                        <a:t>없음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 sz="1400" err="1"/>
                        <a:t>실험</a:t>
                      </a:r>
                      <a:r>
                        <a:rPr sz="1400"/>
                        <a:t> </a:t>
                      </a:r>
                      <a:r>
                        <a:rPr sz="1400" err="1"/>
                        <a:t>변수</a:t>
                      </a:r>
                      <a:r>
                        <a:rPr sz="1400"/>
                        <a:t> </a:t>
                      </a:r>
                      <a:r>
                        <a:rPr sz="1400" err="1"/>
                        <a:t>단순화</a:t>
                      </a:r>
                      <a:r>
                        <a:rPr sz="1400"/>
                        <a:t> 및 baseline </a:t>
                      </a:r>
                      <a:r>
                        <a:rPr sz="1400" err="1"/>
                        <a:t>비교</a:t>
                      </a:r>
                      <a:endParaRPr sz="1400"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77703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1</a:t>
            </a:r>
            <a:r>
              <a:rPr lang="en-US"/>
              <a:t>3</a:t>
            </a:r>
            <a:r>
              <a:t>. </a:t>
            </a:r>
            <a:r>
              <a:rPr err="1"/>
              <a:t>하이퍼파라미터</a:t>
            </a:r>
            <a:r>
              <a:t> </a:t>
            </a:r>
            <a:r>
              <a:rPr err="1"/>
              <a:t>수정</a:t>
            </a:r>
            <a:r>
              <a:t> — </a:t>
            </a:r>
            <a:r>
              <a:rPr err="1"/>
              <a:t>DNN에서</a:t>
            </a:r>
            <a:r>
              <a:t> </a:t>
            </a:r>
            <a:r>
              <a:rPr err="1"/>
              <a:t>실제로</a:t>
            </a:r>
            <a:r>
              <a:t> </a:t>
            </a:r>
            <a:r>
              <a:rPr err="1"/>
              <a:t>무엇을</a:t>
            </a:r>
            <a:r>
              <a:t> </a:t>
            </a:r>
            <a:r>
              <a:rPr err="1"/>
              <a:t>바꿨나</a:t>
            </a: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'튜닝했다'보다 중요한 것은 문제를 관찰하고 변경 이유를 설명하는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858" y="1234440"/>
            <a:ext cx="3490062" cy="4480560"/>
          </a:xfrm>
          <a:prstGeom prst="roundRect">
            <a:avLst/>
          </a:prstGeom>
          <a:solidFill>
            <a:srgbClr val="E7F2FB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① </a:t>
            </a:r>
            <a:r>
              <a:rPr err="1"/>
              <a:t>문제</a:t>
            </a:r>
            <a:r>
              <a:t> </a:t>
            </a:r>
            <a:r>
              <a:rPr err="1"/>
              <a:t>관찰</a:t>
            </a:r>
            <a:endParaRPr lang="en-US"/>
          </a:p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endParaRPr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rPr err="1"/>
              <a:t>초기</a:t>
            </a:r>
            <a:r>
              <a:t> </a:t>
            </a:r>
            <a:r>
              <a:rPr err="1"/>
              <a:t>Keras</a:t>
            </a:r>
            <a:r>
              <a:t> DNN </a:t>
            </a:r>
            <a:r>
              <a:rPr err="1"/>
              <a:t>일부설정에서</a:t>
            </a:r>
            <a:r>
              <a:t> </a:t>
            </a:r>
            <a:r>
              <a:rPr err="1"/>
              <a:t>학습이</a:t>
            </a:r>
            <a:r>
              <a:t> </a:t>
            </a:r>
            <a:r>
              <a:rPr err="1"/>
              <a:t>정상적으로</a:t>
            </a:r>
            <a:r>
              <a:t> </a:t>
            </a:r>
            <a:r>
              <a:rPr err="1"/>
              <a:t>진행되지</a:t>
            </a:r>
            <a:r>
              <a:t> </a:t>
            </a:r>
            <a:r>
              <a:rPr err="1"/>
              <a:t>않고</a:t>
            </a:r>
            <a:r>
              <a:t> </a:t>
            </a:r>
            <a:r>
              <a:rPr err="1"/>
              <a:t>성능이</a:t>
            </a:r>
            <a:r>
              <a:t> </a:t>
            </a:r>
            <a:r>
              <a:rPr err="1"/>
              <a:t>매우</a:t>
            </a:r>
            <a:r>
              <a:t> </a:t>
            </a:r>
            <a:r>
              <a:rPr err="1"/>
              <a:t>낮게</a:t>
            </a:r>
            <a:r>
              <a:t> </a:t>
            </a:r>
            <a:r>
              <a:rPr err="1"/>
              <a:t>유지되는</a:t>
            </a:r>
            <a:r>
              <a:t> </a:t>
            </a:r>
            <a:r>
              <a:rPr err="1"/>
              <a:t>현상을</a:t>
            </a:r>
            <a:r>
              <a:t> </a:t>
            </a:r>
            <a:r>
              <a:rPr err="1"/>
              <a:t>확인</a:t>
            </a:r>
            <a:r>
              <a:t>.</a:t>
            </a:r>
            <a:br>
              <a:rPr/>
            </a:br>
            <a:br>
              <a:rPr/>
            </a:br>
            <a:r>
              <a:t>→ </a:t>
            </a:r>
            <a:r>
              <a:rPr err="1"/>
              <a:t>구조</a:t>
            </a:r>
            <a:r>
              <a:t> </a:t>
            </a:r>
            <a:r>
              <a:rPr err="1"/>
              <a:t>자체를</a:t>
            </a:r>
            <a:r>
              <a:t> </a:t>
            </a:r>
            <a:r>
              <a:rPr err="1"/>
              <a:t>포기하지</a:t>
            </a:r>
            <a:r>
              <a:t> </a:t>
            </a:r>
            <a:r>
              <a:rPr err="1"/>
              <a:t>않고</a:t>
            </a:r>
            <a:r>
              <a:t> </a:t>
            </a:r>
            <a:r>
              <a:rPr err="1"/>
              <a:t>초기화와</a:t>
            </a:r>
            <a:r>
              <a:t> </a:t>
            </a:r>
            <a:r>
              <a:rPr err="1"/>
              <a:t>정규화를</a:t>
            </a:r>
            <a:r>
              <a:t> </a:t>
            </a:r>
            <a:r>
              <a:rPr err="1"/>
              <a:t>점검</a:t>
            </a:r>
            <a:endParaRPr lang="en-US"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endParaRPr lang="en-US"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endParaRPr lang="en-US"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160520" y="1234440"/>
            <a:ext cx="3291840" cy="4480560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② </a:t>
            </a:r>
            <a:r>
              <a:rPr err="1"/>
              <a:t>수정</a:t>
            </a:r>
            <a:endParaRPr lang="en-US"/>
          </a:p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endParaRPr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rPr err="1"/>
              <a:t>ReLU</a:t>
            </a:r>
            <a:r>
              <a:t> </a:t>
            </a:r>
            <a:r>
              <a:rPr err="1"/>
              <a:t>기반</a:t>
            </a:r>
            <a:r>
              <a:t> hidden </a:t>
            </a:r>
            <a:r>
              <a:rPr err="1"/>
              <a:t>layer에</a:t>
            </a:r>
            <a:br>
              <a:rPr/>
            </a:br>
            <a:r>
              <a:rPr lang="en-US"/>
              <a:t>*</a:t>
            </a:r>
            <a:r>
              <a:t>He Normal initialization </a:t>
            </a:r>
            <a:r>
              <a:rPr err="1"/>
              <a:t>적용</a:t>
            </a:r>
            <a:br>
              <a:rPr/>
            </a:br>
            <a:r>
              <a:t>+ Dropout 0.5 </a:t>
            </a:r>
            <a:r>
              <a:rPr err="1"/>
              <a:t>적용</a:t>
            </a:r>
            <a:br>
              <a:rPr/>
            </a:br>
            <a:br>
              <a:rPr/>
            </a:br>
            <a:r>
              <a:t>→ </a:t>
            </a:r>
            <a:r>
              <a:rPr err="1"/>
              <a:t>가중치</a:t>
            </a:r>
            <a:r>
              <a:t> </a:t>
            </a:r>
            <a:r>
              <a:rPr err="1"/>
              <a:t>초기화와</a:t>
            </a:r>
            <a:r>
              <a:t> </a:t>
            </a:r>
            <a:r>
              <a:rPr err="1"/>
              <a:t>과적합</a:t>
            </a:r>
            <a:r>
              <a:t>/</a:t>
            </a:r>
            <a:r>
              <a:rPr err="1"/>
              <a:t>일반화</a:t>
            </a:r>
            <a:r>
              <a:t> </a:t>
            </a:r>
            <a:r>
              <a:rPr err="1"/>
              <a:t>문제를</a:t>
            </a:r>
            <a:r>
              <a:t> </a:t>
            </a:r>
            <a:r>
              <a:rPr err="1"/>
              <a:t>함께</a:t>
            </a:r>
            <a:r>
              <a:t> </a:t>
            </a:r>
            <a:r>
              <a:rPr err="1"/>
              <a:t>고려</a:t>
            </a:r>
            <a:endParaRPr lang="en-US"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endParaRPr lang="en-US"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rPr lang="en-US"/>
              <a:t>* : </a:t>
            </a:r>
            <a:r>
              <a:rPr lang="ko-KR" altLang="ko-KR" sz="1500" err="1">
                <a:solidFill>
                  <a:srgbClr val="1E2328"/>
                </a:solidFill>
                <a:latin typeface="Malgun Gothic"/>
              </a:rPr>
              <a:t>ReLU를</a:t>
            </a:r>
            <a:r>
              <a:rPr lang="ko-KR" altLang="ko-KR" sz="1500">
                <a:solidFill>
                  <a:srgbClr val="1E2328"/>
                </a:solidFill>
                <a:latin typeface="Malgun Gothic"/>
              </a:rPr>
              <a:t> 사용하는 신경망에서 가중치를 적절한 크기의 정규분포로 초기화하는 방법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80959" y="1234440"/>
            <a:ext cx="3408441" cy="4480560"/>
          </a:xfrm>
          <a:prstGeom prst="roundRect">
            <a:avLst/>
          </a:prstGeom>
          <a:solidFill>
            <a:srgbClr val="E7F2FB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③ </a:t>
            </a:r>
            <a:r>
              <a:rPr err="1"/>
              <a:t>결과</a:t>
            </a:r>
            <a:endParaRPr lang="en-US"/>
          </a:p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endParaRPr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rPr err="1"/>
              <a:t>최종</a:t>
            </a:r>
            <a:r>
              <a:t> </a:t>
            </a:r>
            <a:r>
              <a:rPr err="1"/>
              <a:t>Keras</a:t>
            </a:r>
            <a:r>
              <a:t> DNN</a:t>
            </a:r>
            <a:br>
              <a:rPr/>
            </a:br>
            <a:r>
              <a:t>Best </a:t>
            </a:r>
            <a:r>
              <a:rPr err="1"/>
              <a:t>val</a:t>
            </a:r>
            <a:r>
              <a:t> accuracy: 74.69%</a:t>
            </a:r>
            <a:br>
              <a:rPr/>
            </a:br>
            <a:r>
              <a:t>Test accuracy: 74.48%</a:t>
            </a:r>
            <a:br>
              <a:rPr/>
            </a:br>
            <a:br>
              <a:rPr/>
            </a:br>
            <a:r>
              <a:t>→ '</a:t>
            </a:r>
            <a:r>
              <a:rPr err="1"/>
              <a:t>하이퍼파라미터를</a:t>
            </a:r>
            <a:r>
              <a:t> </a:t>
            </a:r>
            <a:r>
              <a:rPr err="1"/>
              <a:t>바꿨다'가</a:t>
            </a:r>
            <a:r>
              <a:t> </a:t>
            </a:r>
            <a:r>
              <a:rPr err="1"/>
              <a:t>아니라</a:t>
            </a:r>
            <a:br>
              <a:rPr/>
            </a:br>
            <a:r>
              <a:t>'</a:t>
            </a:r>
            <a:r>
              <a:rPr err="1"/>
              <a:t>학습</a:t>
            </a:r>
            <a:r>
              <a:t> </a:t>
            </a:r>
            <a:r>
              <a:rPr err="1"/>
              <a:t>상태를</a:t>
            </a:r>
            <a:r>
              <a:t> </a:t>
            </a:r>
            <a:r>
              <a:rPr err="1"/>
              <a:t>보고</a:t>
            </a:r>
            <a:r>
              <a:t> </a:t>
            </a:r>
            <a:r>
              <a:rPr err="1"/>
              <a:t>수정했다'는</a:t>
            </a:r>
            <a:r>
              <a:t> </a:t>
            </a:r>
            <a:r>
              <a:rPr err="1"/>
              <a:t>실험</a:t>
            </a:r>
            <a:r>
              <a:t> </a:t>
            </a:r>
            <a:r>
              <a:rPr err="1"/>
              <a:t>흐름</a:t>
            </a:r>
            <a:endParaRPr lang="en-US"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endParaRPr lang="en-US"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endParaRPr lang="en-US"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60254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1</a:t>
            </a:r>
            <a:r>
              <a:rPr lang="en-US"/>
              <a:t>4</a:t>
            </a:r>
            <a:r>
              <a:t>. </a:t>
            </a:r>
            <a:r>
              <a:rPr err="1"/>
              <a:t>최종</a:t>
            </a:r>
            <a:r>
              <a:t> 6개 </a:t>
            </a:r>
            <a:r>
              <a:rPr err="1"/>
              <a:t>모델</a:t>
            </a:r>
            <a:r>
              <a:t> </a:t>
            </a:r>
            <a:r>
              <a:rPr err="1"/>
              <a:t>성능</a:t>
            </a:r>
            <a:r>
              <a:t> </a:t>
            </a:r>
            <a:r>
              <a:rPr err="1"/>
              <a:t>비교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동일 test set에서 best validation checkpoint를 복원하여 평가</a:t>
            </a:r>
          </a:p>
        </p:txBody>
      </p:sp>
      <p:pic>
        <p:nvPicPr>
          <p:cNvPr id="5" name="Picture 4" descr="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731520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371600"/>
            <a:ext cx="2834640" cy="1188720"/>
          </a:xfrm>
          <a:prstGeom prst="roundRect">
            <a:avLst/>
          </a:prstGeom>
          <a:solidFill>
            <a:srgbClr val="EAF6EE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43456"/>
                </a:solidFill>
                <a:latin typeface="Malgun Gothic"/>
              </a:defRPr>
            </a:pPr>
            <a:r>
              <a:t>94.72%</a:t>
            </a:r>
          </a:p>
          <a:p>
            <a:pPr algn="ctr">
              <a:defRPr sz="1200">
                <a:solidFill>
                  <a:srgbClr val="5A6470"/>
                </a:solidFill>
                <a:latin typeface="Malgun Gothic"/>
              </a:defRPr>
            </a:pPr>
            <a:r>
              <a:t>Keras 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743200"/>
            <a:ext cx="2834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43456"/>
                </a:solidFill>
                <a:latin typeface="Malgun Gothic"/>
              </a:defRPr>
            </a:pPr>
            <a:r>
              <a:t>94.11%</a:t>
            </a:r>
          </a:p>
          <a:p>
            <a:pPr algn="ctr">
              <a:defRPr sz="1200">
                <a:solidFill>
                  <a:srgbClr val="5A6470"/>
                </a:solidFill>
                <a:latin typeface="Malgun Gothic"/>
              </a:defRPr>
            </a:pPr>
            <a:r>
              <a:t>PyTorch CNN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114800"/>
            <a:ext cx="2834640" cy="1188720"/>
          </a:xfrm>
          <a:prstGeom prst="roundRect">
            <a:avLst/>
          </a:prstGeom>
          <a:solidFill>
            <a:srgbClr val="FBEBE9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43456"/>
                </a:solidFill>
                <a:latin typeface="Malgun Gothic"/>
              </a:defRPr>
            </a:pPr>
            <a:r>
              <a:t>74.48%</a:t>
            </a:r>
          </a:p>
          <a:p>
            <a:pPr algn="ctr">
              <a:defRPr sz="1200">
                <a:solidFill>
                  <a:srgbClr val="5A6470"/>
                </a:solidFill>
                <a:latin typeface="Malgun Gothic"/>
              </a:defRPr>
            </a:pPr>
            <a:r>
              <a:t>Keras DNN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440680"/>
            <a:ext cx="2834640" cy="722376"/>
          </a:xfrm>
          <a:prstGeom prst="roundRect">
            <a:avLst/>
          </a:prstGeom>
          <a:solidFill>
            <a:srgbClr val="EAF6EE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t>CNN </a:t>
            </a:r>
            <a:r>
              <a:rPr err="1"/>
              <a:t>우위</a:t>
            </a:r>
            <a:endParaRPr/>
          </a:p>
          <a:p>
            <a:pPr>
              <a:spcBef>
                <a:spcPts val="600"/>
              </a:spcBef>
              <a:defRPr sz="1500">
                <a:solidFill>
                  <a:srgbClr val="1E2328"/>
                </a:solidFill>
                <a:latin typeface="Malgun Gothic"/>
              </a:defRPr>
            </a:pPr>
            <a:r>
              <a:t>ANN </a:t>
            </a:r>
            <a:r>
              <a:rPr err="1"/>
              <a:t>대비</a:t>
            </a:r>
            <a:r>
              <a:t> +24.65pp </a:t>
            </a:r>
            <a:r>
              <a:rPr err="1"/>
              <a:t>이상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88F21256-E165-7CA9-C933-8094B40C5F96}"/>
              </a:ext>
            </a:extLst>
          </p:cNvPr>
          <p:cNvSpPr/>
          <p:nvPr/>
        </p:nvSpPr>
        <p:spPr>
          <a:xfrm>
            <a:off x="1383874" y="5636846"/>
            <a:ext cx="5852160" cy="466344"/>
          </a:xfrm>
          <a:prstGeom prst="roundRect">
            <a:avLst/>
          </a:prstGeom>
          <a:solidFill>
            <a:srgbClr val="EAF6EE"/>
          </a:solidFill>
          <a:ln>
            <a:solidFill>
              <a:srgbClr val="498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lang="en-US"/>
              <a:t>Test Accuracy</a:t>
            </a:r>
            <a:r>
              <a:rPr lang="ko-KR" altLang="en-US"/>
              <a:t>는  </a:t>
            </a:r>
            <a:r>
              <a:t>ANN &lt; DNN &lt;&lt; CNN</a:t>
            </a:r>
            <a:r>
              <a:rPr lang="en-US"/>
              <a:t> </a:t>
            </a:r>
            <a:r>
              <a:rPr lang="ko-KR" altLang="en-US"/>
              <a:t>으로 나타남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BD6A98-37B0-0C63-65D8-868D12295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096000" cy="331591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96367BF-8EAB-5AD7-E8B0-976508C70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3" y="3194137"/>
            <a:ext cx="6031669" cy="36638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F1336DF-53C2-D55A-8642-DB0253D0F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173" y="1"/>
            <a:ext cx="5883056" cy="334185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2421ECD-2782-0645-418B-D8E431122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201" y="3315910"/>
            <a:ext cx="5949799" cy="35420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7183BF-CB0F-C420-B798-94F9652FECB3}"/>
              </a:ext>
            </a:extLst>
          </p:cNvPr>
          <p:cNvSpPr txBox="1"/>
          <p:nvPr/>
        </p:nvSpPr>
        <p:spPr>
          <a:xfrm>
            <a:off x="1577191" y="-30684"/>
            <a:ext cx="12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err="1">
                <a:latin typeface="+mn-ea"/>
              </a:rPr>
              <a:t>Keras</a:t>
            </a:r>
            <a:r>
              <a:rPr lang="en-US" altLang="ko-KR" sz="1200">
                <a:latin typeface="+mn-ea"/>
              </a:rPr>
              <a:t> CNN</a:t>
            </a:r>
            <a:endParaRPr lang="ko-KR" altLang="en-US" sz="120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428D4A-B7D6-1D9D-D533-E0DB2764CCC7}"/>
              </a:ext>
            </a:extLst>
          </p:cNvPr>
          <p:cNvSpPr txBox="1"/>
          <p:nvPr/>
        </p:nvSpPr>
        <p:spPr>
          <a:xfrm>
            <a:off x="1717534" y="3181863"/>
            <a:ext cx="1246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err="1">
                <a:latin typeface="+mn-ea"/>
              </a:rPr>
              <a:t>Keras</a:t>
            </a:r>
            <a:r>
              <a:rPr lang="en-US" altLang="ko-KR" sz="1200">
                <a:latin typeface="+mn-ea"/>
              </a:rPr>
              <a:t> CNN</a:t>
            </a:r>
            <a:endParaRPr lang="ko-KR" altLang="en-US" sz="12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8974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57497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1</a:t>
            </a:r>
            <a:r>
              <a:rPr lang="en-US"/>
              <a:t>5</a:t>
            </a:r>
            <a:r>
              <a:t>. </a:t>
            </a:r>
            <a:r>
              <a:rPr err="1"/>
              <a:t>Keras</a:t>
            </a:r>
            <a:r>
              <a:t> vs </a:t>
            </a:r>
            <a:r>
              <a:rPr err="1"/>
              <a:t>PyTorch</a:t>
            </a:r>
            <a:r>
              <a:t> — </a:t>
            </a:r>
            <a:r>
              <a:rPr err="1"/>
              <a:t>프레임워크보다</a:t>
            </a:r>
            <a:r>
              <a:t> </a:t>
            </a:r>
            <a:r>
              <a:rPr err="1"/>
              <a:t>구조의</a:t>
            </a:r>
            <a:r>
              <a:t> </a:t>
            </a:r>
            <a:r>
              <a:rPr err="1"/>
              <a:t>영향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동일 계열 모델끼리 비교하면 CNN은 두 프레임워크 모두 94%대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25880"/>
          <a:ext cx="8869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Model pair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Keras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PyTorch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차이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ANN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70.07%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72.65%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+2.58pp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DNN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74.48%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74.34%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-0.14pp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CNN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94.72%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94.11%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-0.61pp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251960"/>
            <a:ext cx="10241280" cy="1371600"/>
          </a:xfrm>
          <a:prstGeom prst="roundRect">
            <a:avLst/>
          </a:prstGeom>
          <a:solidFill>
            <a:srgbClr val="EAF6EE"/>
          </a:solidFill>
          <a:ln>
            <a:solidFill>
              <a:srgbClr val="498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해석</a:t>
            </a:r>
            <a:endParaRPr/>
          </a:p>
          <a:p>
            <a:pPr>
              <a:spcBef>
                <a:spcPts val="600"/>
              </a:spcBef>
              <a:defRPr sz="1400">
                <a:solidFill>
                  <a:srgbClr val="1E2328"/>
                </a:solidFill>
                <a:latin typeface="Malgun Gothic"/>
              </a:defRPr>
            </a:pPr>
            <a:r>
              <a:rPr lang="en-US"/>
              <a:t> </a:t>
            </a:r>
            <a:r>
              <a:rPr err="1"/>
              <a:t>Keras</a:t>
            </a:r>
            <a:r>
              <a:t>/</a:t>
            </a:r>
            <a:r>
              <a:rPr err="1"/>
              <a:t>PyTorch</a:t>
            </a:r>
            <a:r>
              <a:t> 간 </a:t>
            </a:r>
            <a:r>
              <a:rPr err="1"/>
              <a:t>차이는</a:t>
            </a:r>
            <a:r>
              <a:t> </a:t>
            </a:r>
            <a:r>
              <a:rPr err="1"/>
              <a:t>상대적으로</a:t>
            </a:r>
            <a:r>
              <a:t> </a:t>
            </a:r>
            <a:r>
              <a:rPr err="1"/>
              <a:t>작고</a:t>
            </a:r>
            <a:r>
              <a:t>, ANN/DNN → </a:t>
            </a:r>
            <a:r>
              <a:rPr err="1"/>
              <a:t>CNN으로</a:t>
            </a:r>
            <a:r>
              <a:t> </a:t>
            </a:r>
            <a:r>
              <a:rPr err="1"/>
              <a:t>구조가</a:t>
            </a:r>
            <a:r>
              <a:t> </a:t>
            </a:r>
            <a:r>
              <a:rPr err="1"/>
              <a:t>바뀔</a:t>
            </a:r>
            <a:r>
              <a:t> 때 </a:t>
            </a:r>
            <a:r>
              <a:rPr err="1"/>
              <a:t>성능</a:t>
            </a:r>
            <a:r>
              <a:t> </a:t>
            </a:r>
            <a:r>
              <a:rPr err="1"/>
              <a:t>변화가</a:t>
            </a:r>
            <a:r>
              <a:t> </a:t>
            </a:r>
            <a:r>
              <a:rPr err="1"/>
              <a:t>훨씬</a:t>
            </a:r>
            <a:r>
              <a:t> </a:t>
            </a:r>
            <a:r>
              <a:rPr err="1"/>
              <a:t>크다</a:t>
            </a:r>
            <a:r>
              <a:t>.</a:t>
            </a:r>
            <a:endParaRPr lang="en-US"/>
          </a:p>
          <a:p>
            <a:pPr>
              <a:spcBef>
                <a:spcPts val="600"/>
              </a:spcBef>
              <a:defRPr sz="1400">
                <a:solidFill>
                  <a:srgbClr val="1E2328"/>
                </a:solidFill>
                <a:latin typeface="Malgun Gothic"/>
              </a:defRPr>
            </a:pPr>
            <a:r>
              <a:t> </a:t>
            </a:r>
            <a:r>
              <a:rPr err="1"/>
              <a:t>따라서</a:t>
            </a:r>
            <a:r>
              <a:t> 이 </a:t>
            </a:r>
            <a:r>
              <a:rPr err="1"/>
              <a:t>실험에서</a:t>
            </a:r>
            <a:r>
              <a:t> </a:t>
            </a:r>
            <a:r>
              <a:rPr err="1"/>
              <a:t>가장</a:t>
            </a:r>
            <a:r>
              <a:t> 큰 </a:t>
            </a:r>
            <a:r>
              <a:rPr err="1"/>
              <a:t>요인은</a:t>
            </a:r>
            <a:r>
              <a:t> '</a:t>
            </a:r>
            <a:r>
              <a:rPr err="1"/>
              <a:t>프레임워크'보다</a:t>
            </a:r>
            <a:r>
              <a:t> </a:t>
            </a:r>
            <a:r>
              <a:rPr b="1" err="1"/>
              <a:t>이미지에</a:t>
            </a:r>
            <a:r>
              <a:rPr b="1"/>
              <a:t> </a:t>
            </a:r>
            <a:r>
              <a:rPr b="1" err="1"/>
              <a:t>맞는</a:t>
            </a:r>
            <a:r>
              <a:rPr b="1"/>
              <a:t> </a:t>
            </a:r>
            <a:r>
              <a:rPr b="1" err="1"/>
              <a:t>모델</a:t>
            </a:r>
            <a:r>
              <a:rPr b="1"/>
              <a:t> </a:t>
            </a:r>
            <a:r>
              <a:rPr b="1" err="1"/>
              <a:t>구조의</a:t>
            </a:r>
            <a:r>
              <a:rPr b="1"/>
              <a:t> </a:t>
            </a:r>
            <a:r>
              <a:rPr b="1" err="1"/>
              <a:t>선택</a:t>
            </a:r>
            <a:r>
              <a:rPr err="1"/>
              <a:t>으로</a:t>
            </a:r>
            <a:r>
              <a:t> </a:t>
            </a:r>
            <a:r>
              <a:rPr err="1"/>
              <a:t>해석할</a:t>
            </a:r>
            <a:r>
              <a:t> 수 </a:t>
            </a:r>
            <a:r>
              <a:rPr err="1"/>
              <a:t>있다</a:t>
            </a:r>
            <a: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01424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1</a:t>
            </a:r>
            <a:r>
              <a:rPr lang="en-US"/>
              <a:t>6</a:t>
            </a:r>
            <a:r>
              <a:t>. </a:t>
            </a:r>
            <a:r>
              <a:rPr err="1"/>
              <a:t>최종</a:t>
            </a:r>
            <a:r>
              <a:t> CNN </a:t>
            </a:r>
            <a:r>
              <a:rPr err="1"/>
              <a:t>상세</a:t>
            </a:r>
            <a:r>
              <a:t> </a:t>
            </a:r>
            <a:r>
              <a:rPr err="1"/>
              <a:t>평가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Accuracy 하나만으로 결론 내리지 않고 Precision / Recall / F1까지 확인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130584"/>
              </p:ext>
            </p:extLst>
          </p:nvPr>
        </p:nvGraphicFramePr>
        <p:xfrm>
          <a:off x="1920240" y="1280160"/>
          <a:ext cx="8229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Keras CNN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PyTorch CNN</a:t>
                      </a:r>
                    </a:p>
                  </a:txBody>
                  <a:tcPr marL="54864" marR="54864" marT="36576" marB="36576">
                    <a:solidFill>
                      <a:srgbClr val="143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Accuracy</a:t>
                      </a:r>
                      <a:r>
                        <a:rPr lang="en-US"/>
                        <a:t> </a:t>
                      </a:r>
                      <a:r>
                        <a:rPr lang="ko-KR" altLang="en-US"/>
                        <a:t>정확도</a:t>
                      </a:r>
                      <a:endParaRPr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94.72%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94.11%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Precision</a:t>
                      </a:r>
                      <a:r>
                        <a:rPr lang="en-US"/>
                        <a:t> </a:t>
                      </a:r>
                      <a:r>
                        <a:rPr lang="ko-KR" altLang="en-US"/>
                        <a:t>정밀도</a:t>
                      </a:r>
                      <a:endParaRPr/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94.74%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94.19%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Recall</a:t>
                      </a:r>
                      <a:r>
                        <a:rPr lang="en-US"/>
                        <a:t> </a:t>
                      </a:r>
                      <a:r>
                        <a:rPr lang="ko-KR" altLang="en-US" err="1"/>
                        <a:t>재현율</a:t>
                      </a:r>
                      <a:endParaRPr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94.72%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94.11%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F1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94.70%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94.12%</a:t>
                      </a:r>
                    </a:p>
                  </a:txBody>
                  <a:tcPr marL="54864" marR="54864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Test samples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1,477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t>1,477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Best validation epoch</a:t>
                      </a:r>
                    </a:p>
                  </a:txBody>
                  <a:tcPr marL="54864" marR="54864" marT="36576" marB="3657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26 / 96.33%</a:t>
                      </a:r>
                    </a:p>
                  </a:txBody>
                  <a:tcPr marL="54864" marR="54864" marT="36576" marB="3657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328"/>
                          </a:solidFill>
                          <a:latin typeface="Malgun Gothic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29 / 95.65%</a:t>
                      </a:r>
                    </a:p>
                  </a:txBody>
                  <a:tcPr marL="54864" marR="54864" marT="36576" marB="3657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74520" y="5257800"/>
            <a:ext cx="8321040" cy="640080"/>
          </a:xfrm>
          <a:prstGeom prst="roundRect">
            <a:avLst/>
          </a:prstGeom>
          <a:solidFill>
            <a:srgbClr val="EAF6EE"/>
          </a:solidFill>
          <a:ln>
            <a:solidFill>
              <a:srgbClr val="498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lang="ko-KR" altLang="en-US"/>
              <a:t>해석</a:t>
            </a:r>
            <a:endParaRPr/>
          </a:p>
          <a:p>
            <a:pPr>
              <a:spcBef>
                <a:spcPts val="600"/>
              </a:spcBef>
              <a:defRPr sz="1200">
                <a:solidFill>
                  <a:srgbClr val="1E2328"/>
                </a:solidFill>
                <a:latin typeface="Malgun Gothic"/>
              </a:defRPr>
            </a:pPr>
            <a:r>
              <a:t>두 CNN </a:t>
            </a:r>
            <a:r>
              <a:rPr err="1"/>
              <a:t>모두</a:t>
            </a:r>
            <a:r>
              <a:t> Precision / Recall / F1이 </a:t>
            </a:r>
            <a:r>
              <a:rPr err="1"/>
              <a:t>Accuracy와</a:t>
            </a:r>
            <a:r>
              <a:t> </a:t>
            </a:r>
            <a:r>
              <a:rPr err="1"/>
              <a:t>매우</a:t>
            </a:r>
            <a:r>
              <a:t> </a:t>
            </a:r>
            <a:r>
              <a:rPr err="1"/>
              <a:t>가깝게</a:t>
            </a:r>
            <a:r>
              <a:t> </a:t>
            </a:r>
            <a:r>
              <a:rPr err="1"/>
              <a:t>유지되어</a:t>
            </a:r>
            <a:r>
              <a:t> </a:t>
            </a:r>
            <a:r>
              <a:rPr err="1"/>
              <a:t>전반적인</a:t>
            </a:r>
            <a:r>
              <a:t> </a:t>
            </a:r>
            <a:r>
              <a:rPr err="1"/>
              <a:t>클래스</a:t>
            </a:r>
            <a:r>
              <a:t> </a:t>
            </a:r>
            <a:r>
              <a:rPr err="1"/>
              <a:t>성능이</a:t>
            </a:r>
            <a:r>
              <a:t> </a:t>
            </a:r>
            <a:r>
              <a:rPr err="1"/>
              <a:t>안정적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분류 지표 정의/산출: scikit-learn classification_report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95850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1</a:t>
            </a:r>
            <a:r>
              <a:rPr lang="en-US"/>
              <a:t>7</a:t>
            </a:r>
            <a:r>
              <a:t>. Confusion Matrix — </a:t>
            </a:r>
            <a:r>
              <a:rPr err="1"/>
              <a:t>어디서</a:t>
            </a:r>
            <a:r>
              <a:t> </a:t>
            </a:r>
            <a:r>
              <a:rPr err="1"/>
              <a:t>틀렸는가</a:t>
            </a: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행 = 실제 클래스 / 열 = 예측 클래스</a:t>
            </a:r>
          </a:p>
        </p:txBody>
      </p:sp>
      <p:pic>
        <p:nvPicPr>
          <p:cNvPr id="5" name="Picture 4" descr="cm_k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394960" cy="4624251"/>
          </a:xfrm>
          <a:prstGeom prst="rect">
            <a:avLst/>
          </a:prstGeom>
        </p:spPr>
      </p:pic>
      <p:pic>
        <p:nvPicPr>
          <p:cNvPr id="6" name="Picture 5" descr="cm_pyto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394960" cy="46242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5714999"/>
            <a:ext cx="5029200" cy="611909"/>
          </a:xfrm>
          <a:prstGeom prst="roundRect">
            <a:avLst/>
          </a:prstGeom>
          <a:solidFill>
            <a:srgbClr val="EAF6EE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Keras</a:t>
            </a:r>
            <a:r>
              <a:t> CNN</a:t>
            </a:r>
          </a:p>
          <a:p>
            <a:pPr>
              <a:spcBef>
                <a:spcPts val="600"/>
              </a:spcBef>
              <a:defRPr sz="1100">
                <a:solidFill>
                  <a:srgbClr val="1E2328"/>
                </a:solidFill>
                <a:latin typeface="Malgun Gothic"/>
              </a:defRPr>
            </a:pPr>
            <a:r>
              <a:t>Target Spot → Spider mites 14건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5715000"/>
            <a:ext cx="5029200" cy="611908"/>
          </a:xfrm>
          <a:prstGeom prst="roundRect">
            <a:avLst/>
          </a:prstGeom>
          <a:solidFill>
            <a:srgbClr val="EAF6EE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PyTorch</a:t>
            </a:r>
            <a:r>
              <a:t> CNN</a:t>
            </a:r>
          </a:p>
          <a:p>
            <a:pPr>
              <a:spcBef>
                <a:spcPts val="600"/>
              </a:spcBef>
              <a:defRPr sz="1100">
                <a:solidFill>
                  <a:srgbClr val="1E2328"/>
                </a:solidFill>
                <a:latin typeface="Malgun Gothic"/>
              </a:defRPr>
            </a:pPr>
            <a:r>
              <a:t>Spider mites → Target Spot 17건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혼동행렬 정의: scikit-learn confusion_matrix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73955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1</a:t>
            </a:r>
            <a:r>
              <a:rPr lang="en-US"/>
              <a:t>8</a:t>
            </a:r>
            <a:r>
              <a:t>. CNN Feature Map — </a:t>
            </a:r>
            <a:r>
              <a:rPr err="1"/>
              <a:t>모델이</a:t>
            </a:r>
            <a:r>
              <a:t> </a:t>
            </a:r>
            <a:r>
              <a:rPr err="1"/>
              <a:t>추출하는</a:t>
            </a:r>
            <a:r>
              <a:t> </a:t>
            </a:r>
            <a:r>
              <a:rPr err="1"/>
              <a:t>특징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736092"/>
            <a:ext cx="38475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Conv1/Conv2/Conv3의 </a:t>
            </a:r>
            <a:r>
              <a:rPr err="1"/>
              <a:t>활성화</a:t>
            </a:r>
            <a:r>
              <a:t> </a:t>
            </a:r>
            <a:r>
              <a:rPr err="1"/>
              <a:t>패턴을</a:t>
            </a:r>
            <a:r>
              <a:t> </a:t>
            </a:r>
            <a:r>
              <a:rPr err="1"/>
              <a:t>시각화</a:t>
            </a: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12929" y="4315027"/>
            <a:ext cx="9506078" cy="2300667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해석</a:t>
            </a:r>
            <a:r>
              <a:t> </a:t>
            </a:r>
            <a:r>
              <a:rPr err="1"/>
              <a:t>포인트</a:t>
            </a:r>
            <a:endParaRPr/>
          </a:p>
          <a:p>
            <a:pPr>
              <a:spcBef>
                <a:spcPts val="600"/>
              </a:spcBef>
              <a:defRPr sz="1200">
                <a:solidFill>
                  <a:srgbClr val="1E2328"/>
                </a:solidFill>
                <a:latin typeface="Malgun Gothic"/>
              </a:defRPr>
            </a:pPr>
            <a:r>
              <a:t>Conv1</a:t>
            </a:r>
            <a:br>
              <a:rPr/>
            </a:br>
            <a:r>
              <a:t>• edge / contour / color change</a:t>
            </a:r>
            <a:br>
              <a:rPr lang="ko-KR" altLang="en-US"/>
            </a:br>
            <a:br>
              <a:rPr lang="ko-KR" altLang="en-US"/>
            </a:br>
            <a:r>
              <a:t>Conv2</a:t>
            </a:r>
            <a:br>
              <a:rPr/>
            </a:br>
            <a:r>
              <a:t>• texture / shape 등 </a:t>
            </a:r>
            <a:r>
              <a:rPr err="1"/>
              <a:t>중간</a:t>
            </a:r>
            <a:r>
              <a:t> </a:t>
            </a:r>
            <a:r>
              <a:rPr err="1"/>
              <a:t>패턴</a:t>
            </a:r>
            <a:br>
              <a:rPr/>
            </a:br>
            <a:br>
              <a:rPr/>
            </a:br>
            <a:r>
              <a:t>Conv3</a:t>
            </a:r>
            <a:br>
              <a:rPr/>
            </a:br>
            <a:r>
              <a:t>• 더 </a:t>
            </a:r>
            <a:r>
              <a:rPr err="1"/>
              <a:t>추상적이고</a:t>
            </a:r>
            <a:r>
              <a:t> </a:t>
            </a:r>
            <a:r>
              <a:rPr err="1"/>
              <a:t>선택적인</a:t>
            </a:r>
            <a:r>
              <a:t> </a:t>
            </a:r>
            <a:r>
              <a:rPr err="1"/>
              <a:t>특징</a:t>
            </a:r>
            <a:br>
              <a:rPr/>
            </a:br>
            <a:br>
              <a:rPr/>
            </a:br>
            <a:r>
              <a:t>※ Feature </a:t>
            </a:r>
            <a:r>
              <a:rPr err="1"/>
              <a:t>Map은</a:t>
            </a:r>
            <a:r>
              <a:t> </a:t>
            </a:r>
            <a:r>
              <a:rPr err="1"/>
              <a:t>특징</a:t>
            </a:r>
            <a:r>
              <a:t> </a:t>
            </a:r>
            <a:r>
              <a:rPr err="1"/>
              <a:t>추출</a:t>
            </a:r>
            <a:r>
              <a:t> </a:t>
            </a:r>
            <a:r>
              <a:rPr err="1"/>
              <a:t>과정을</a:t>
            </a:r>
            <a:r>
              <a:t> </a:t>
            </a:r>
            <a:r>
              <a:rPr err="1"/>
              <a:t>보는</a:t>
            </a:r>
            <a:r>
              <a:t> </a:t>
            </a:r>
            <a:r>
              <a:rPr err="1"/>
              <a:t>시각화이며</a:t>
            </a:r>
            <a:r>
              <a:t>, </a:t>
            </a:r>
            <a:r>
              <a:rPr err="1"/>
              <a:t>병변</a:t>
            </a:r>
            <a:r>
              <a:t> </a:t>
            </a:r>
            <a:r>
              <a:rPr err="1"/>
              <a:t>위치를</a:t>
            </a:r>
            <a:r>
              <a:t> </a:t>
            </a:r>
            <a:r>
              <a:rPr err="1"/>
              <a:t>정확히</a:t>
            </a:r>
            <a:r>
              <a:t> </a:t>
            </a:r>
            <a:r>
              <a:rPr err="1"/>
              <a:t>설명하는</a:t>
            </a:r>
            <a:r>
              <a:t> </a:t>
            </a:r>
            <a:r>
              <a:rPr lang="en-US"/>
              <a:t>Grad</a:t>
            </a:r>
            <a:r>
              <a:rPr lang="en-US" altLang="ko-KR"/>
              <a:t>-</a:t>
            </a:r>
            <a:r>
              <a:rPr lang="en-US"/>
              <a:t>CAM</a:t>
            </a:r>
            <a:r>
              <a:rPr lang="ko-KR" altLang="en-US"/>
              <a:t>은 </a:t>
            </a:r>
            <a:r>
              <a:rPr err="1"/>
              <a:t>아님</a:t>
            </a:r>
            <a: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1415A1-6025-988E-E048-BF0DCD85D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127"/>
            <a:ext cx="12192000" cy="33579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94773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t>1</a:t>
            </a:r>
            <a:r>
              <a:rPr lang="en-US"/>
              <a:t>9</a:t>
            </a:r>
            <a:r>
              <a:t>. </a:t>
            </a:r>
            <a:r>
              <a:rPr err="1"/>
              <a:t>한계와</a:t>
            </a:r>
            <a:r>
              <a:t> </a:t>
            </a:r>
            <a:r>
              <a:rPr err="1"/>
              <a:t>과도한</a:t>
            </a:r>
            <a:r>
              <a:t> </a:t>
            </a:r>
            <a:r>
              <a:rPr err="1"/>
              <a:t>해석을</a:t>
            </a:r>
            <a:r>
              <a:t> </a:t>
            </a:r>
            <a:r>
              <a:rPr err="1"/>
              <a:t>피해야</a:t>
            </a:r>
            <a:r>
              <a:t> </a:t>
            </a:r>
            <a:r>
              <a:rPr err="1"/>
              <a:t>하는</a:t>
            </a:r>
            <a:r>
              <a:t> </a:t>
            </a:r>
            <a:r>
              <a:rPr err="1"/>
              <a:t>이유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0"/>
                </a:solidFill>
                <a:latin typeface="Malgun Gothic"/>
              </a:defRPr>
            </a:pPr>
            <a:r>
              <a:t>94%라는 숫자를 '실제 농장에서도 94%'라고 해석하면 안 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383280" cy="4480560"/>
          </a:xfrm>
          <a:prstGeom prst="roundRect">
            <a:avLst/>
          </a:prstGeom>
          <a:solidFill>
            <a:srgbClr val="E7F2FB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데이터</a:t>
            </a:r>
            <a:r>
              <a:t> </a:t>
            </a:r>
            <a:r>
              <a:rPr err="1"/>
              <a:t>한계</a:t>
            </a:r>
            <a:endParaRPr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endParaRPr lang="en-US"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r>
              <a:rPr sz="1400" err="1"/>
              <a:t>PlantVillage는</a:t>
            </a:r>
            <a:r>
              <a:rPr sz="1400"/>
              <a:t> </a:t>
            </a:r>
            <a:r>
              <a:rPr sz="1400" err="1"/>
              <a:t>통제된</a:t>
            </a:r>
            <a:r>
              <a:rPr sz="1400"/>
              <a:t> </a:t>
            </a:r>
            <a:r>
              <a:rPr sz="1400" err="1"/>
              <a:t>환경의</a:t>
            </a:r>
            <a:r>
              <a:rPr sz="1400"/>
              <a:t> </a:t>
            </a:r>
            <a:r>
              <a:rPr sz="1400" err="1"/>
              <a:t>이미지</a:t>
            </a:r>
            <a:r>
              <a:rPr sz="1400"/>
              <a:t> </a:t>
            </a:r>
            <a:r>
              <a:rPr sz="1400" err="1"/>
              <a:t>비중이</a:t>
            </a:r>
            <a:r>
              <a:rPr sz="1400"/>
              <a:t> </a:t>
            </a:r>
            <a:r>
              <a:rPr sz="1400" err="1"/>
              <a:t>높아</a:t>
            </a:r>
            <a:r>
              <a:rPr sz="1400"/>
              <a:t> </a:t>
            </a:r>
            <a:r>
              <a:rPr sz="1400" err="1"/>
              <a:t>실제</a:t>
            </a:r>
            <a:r>
              <a:rPr sz="1400"/>
              <a:t> </a:t>
            </a:r>
            <a:r>
              <a:rPr sz="1400" err="1"/>
              <a:t>촬영</a:t>
            </a:r>
            <a:r>
              <a:rPr sz="1400"/>
              <a:t> </a:t>
            </a:r>
            <a:r>
              <a:rPr sz="1400" err="1"/>
              <a:t>환경과</a:t>
            </a:r>
            <a:r>
              <a:rPr sz="1400"/>
              <a:t> </a:t>
            </a:r>
            <a:r>
              <a:rPr sz="1400" err="1"/>
              <a:t>차이가</a:t>
            </a:r>
            <a:r>
              <a:rPr sz="1400"/>
              <a:t> </a:t>
            </a:r>
            <a:r>
              <a:rPr sz="1400" err="1"/>
              <a:t>있을</a:t>
            </a:r>
            <a:r>
              <a:rPr sz="1400"/>
              <a:t> 수 </a:t>
            </a:r>
            <a:r>
              <a:rPr sz="1400" err="1"/>
              <a:t>있다</a:t>
            </a:r>
            <a:r>
              <a:rPr sz="1400"/>
              <a:t>.</a:t>
            </a:r>
            <a:br>
              <a:rPr sz="1400"/>
            </a:br>
            <a:br>
              <a:rPr sz="1400"/>
            </a:br>
            <a:r>
              <a:rPr sz="1400" err="1"/>
              <a:t>배경</a:t>
            </a:r>
            <a:r>
              <a:rPr sz="1400"/>
              <a:t>, </a:t>
            </a:r>
            <a:r>
              <a:rPr sz="1400" err="1"/>
              <a:t>조명</a:t>
            </a:r>
            <a:r>
              <a:rPr sz="1400"/>
              <a:t>, </a:t>
            </a:r>
            <a:r>
              <a:rPr sz="1400" err="1"/>
              <a:t>촬영</a:t>
            </a:r>
            <a:r>
              <a:rPr sz="1400"/>
              <a:t> </a:t>
            </a:r>
            <a:r>
              <a:rPr sz="1400" err="1"/>
              <a:t>거리</a:t>
            </a:r>
            <a:r>
              <a:rPr sz="1400"/>
              <a:t>, </a:t>
            </a:r>
            <a:r>
              <a:rPr sz="1400" err="1"/>
              <a:t>잎의</a:t>
            </a:r>
            <a:r>
              <a:rPr sz="1400"/>
              <a:t> </a:t>
            </a:r>
            <a:r>
              <a:rPr sz="1400" err="1"/>
              <a:t>가림</a:t>
            </a:r>
            <a:r>
              <a:rPr sz="1400"/>
              <a:t> 등 </a:t>
            </a:r>
            <a:r>
              <a:rPr sz="1400" err="1"/>
              <a:t>실제</a:t>
            </a:r>
            <a:r>
              <a:rPr sz="1400"/>
              <a:t> </a:t>
            </a:r>
            <a:r>
              <a:rPr sz="1400" err="1"/>
              <a:t>환경</a:t>
            </a:r>
            <a:r>
              <a:rPr sz="1400"/>
              <a:t> </a:t>
            </a:r>
            <a:r>
              <a:rPr sz="1400" err="1"/>
              <a:t>변수가</a:t>
            </a:r>
            <a:r>
              <a:rPr sz="1400"/>
              <a:t> </a:t>
            </a:r>
            <a:r>
              <a:rPr sz="1400" err="1"/>
              <a:t>충분히</a:t>
            </a:r>
            <a:r>
              <a:rPr sz="1400"/>
              <a:t> </a:t>
            </a:r>
            <a:r>
              <a:rPr sz="1400" err="1"/>
              <a:t>반영되지</a:t>
            </a:r>
            <a:r>
              <a:rPr sz="1400"/>
              <a:t> </a:t>
            </a:r>
            <a:r>
              <a:rPr sz="1400" err="1"/>
              <a:t>않을</a:t>
            </a:r>
            <a:r>
              <a:rPr sz="1400"/>
              <a:t> 수 </a:t>
            </a:r>
            <a:r>
              <a:rPr sz="1400" err="1"/>
              <a:t>있음</a:t>
            </a:r>
            <a:r>
              <a:rPr sz="1400"/>
              <a:t>.</a:t>
            </a:r>
            <a:endParaRPr lang="en-US" sz="1400"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endParaRPr lang="en-US"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62511" y="1234440"/>
            <a:ext cx="3664634" cy="4480560"/>
          </a:xfrm>
          <a:prstGeom prst="roundRect">
            <a:avLst/>
          </a:prstGeom>
          <a:solidFill>
            <a:srgbClr val="E7F2FB"/>
          </a:solidFill>
          <a:ln>
            <a:solidFill>
              <a:srgbClr val="448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실험</a:t>
            </a:r>
            <a:r>
              <a:t> </a:t>
            </a:r>
            <a:r>
              <a:rPr err="1"/>
              <a:t>한계</a:t>
            </a:r>
            <a:endParaRPr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endParaRPr lang="en-US"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r>
              <a:rPr sz="1400"/>
              <a:t>• augmentation </a:t>
            </a:r>
            <a:r>
              <a:rPr sz="1400" err="1"/>
              <a:t>미사용</a:t>
            </a:r>
            <a:br>
              <a:rPr sz="1400"/>
            </a:br>
            <a:r>
              <a:rPr sz="1400"/>
              <a:t>• </a:t>
            </a:r>
            <a:r>
              <a:rPr sz="1400" err="1"/>
              <a:t>단일</a:t>
            </a:r>
            <a:r>
              <a:rPr sz="1400"/>
              <a:t> train/</a:t>
            </a:r>
            <a:r>
              <a:rPr sz="1400" err="1"/>
              <a:t>val</a:t>
            </a:r>
            <a:r>
              <a:rPr sz="1400"/>
              <a:t>/test split</a:t>
            </a:r>
            <a:endParaRPr lang="en-US" sz="1400"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br>
              <a:rPr sz="1400"/>
            </a:br>
            <a:r>
              <a:rPr sz="1400"/>
              <a:t>• </a:t>
            </a:r>
            <a:r>
              <a:rPr sz="1400" err="1"/>
              <a:t>하이퍼파라미터</a:t>
            </a:r>
            <a:r>
              <a:rPr sz="1400"/>
              <a:t> </a:t>
            </a:r>
            <a:r>
              <a:rPr sz="1400" err="1"/>
              <a:t>탐색범위가</a:t>
            </a:r>
            <a:r>
              <a:rPr lang="en-US" sz="1400"/>
              <a:t> </a:t>
            </a:r>
            <a:r>
              <a:rPr sz="1400" err="1"/>
              <a:t>제한적</a:t>
            </a:r>
            <a:br>
              <a:rPr sz="1400"/>
            </a:br>
            <a:endParaRPr lang="en-US" sz="1400"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r>
              <a:rPr sz="1400"/>
              <a:t>• </a:t>
            </a:r>
            <a:r>
              <a:rPr sz="1400" err="1"/>
              <a:t>동일</a:t>
            </a:r>
            <a:r>
              <a:rPr sz="1400"/>
              <a:t>/</a:t>
            </a:r>
            <a:r>
              <a:rPr sz="1400" err="1"/>
              <a:t>유사</a:t>
            </a:r>
            <a:r>
              <a:rPr sz="1400"/>
              <a:t> </a:t>
            </a:r>
            <a:r>
              <a:rPr sz="1400" err="1"/>
              <a:t>개체</a:t>
            </a:r>
            <a:r>
              <a:rPr sz="1400"/>
              <a:t> </a:t>
            </a:r>
            <a:r>
              <a:rPr sz="1400" err="1"/>
              <a:t>이미지의</a:t>
            </a:r>
            <a:r>
              <a:rPr sz="1400"/>
              <a:t> </a:t>
            </a:r>
            <a:r>
              <a:rPr sz="1400" err="1"/>
              <a:t>일반화</a:t>
            </a:r>
            <a:r>
              <a:rPr sz="1400"/>
              <a:t> </a:t>
            </a:r>
            <a:r>
              <a:rPr sz="1400" err="1"/>
              <a:t>문제</a:t>
            </a:r>
            <a:r>
              <a:rPr sz="1400"/>
              <a:t> </a:t>
            </a:r>
            <a:r>
              <a:rPr sz="1400" err="1"/>
              <a:t>가능성</a:t>
            </a:r>
            <a:br>
              <a:rPr sz="1400"/>
            </a:br>
            <a:br>
              <a:rPr sz="1400"/>
            </a:br>
            <a:r>
              <a:rPr sz="1400"/>
              <a:t>→ '이 </a:t>
            </a:r>
            <a:r>
              <a:rPr sz="1400" err="1"/>
              <a:t>데이터셋</a:t>
            </a:r>
            <a:r>
              <a:rPr sz="1400"/>
              <a:t> </a:t>
            </a:r>
            <a:r>
              <a:rPr sz="1400" err="1"/>
              <a:t>조건에서의</a:t>
            </a:r>
            <a:r>
              <a:rPr sz="1400"/>
              <a:t> </a:t>
            </a:r>
            <a:r>
              <a:rPr sz="1400" err="1"/>
              <a:t>비교</a:t>
            </a:r>
            <a:r>
              <a:rPr sz="1400"/>
              <a:t> </a:t>
            </a:r>
            <a:r>
              <a:rPr sz="1400" err="1"/>
              <a:t>실험'으로</a:t>
            </a:r>
            <a:r>
              <a:rPr sz="1400"/>
              <a:t> </a:t>
            </a:r>
            <a:r>
              <a:rPr sz="1400" err="1"/>
              <a:t>결론</a:t>
            </a:r>
            <a:r>
              <a:rPr sz="1400"/>
              <a:t> </a:t>
            </a:r>
            <a:r>
              <a:rPr sz="1400" err="1"/>
              <a:t>범위를</a:t>
            </a:r>
            <a:r>
              <a:rPr sz="1400"/>
              <a:t> </a:t>
            </a:r>
            <a:r>
              <a:rPr sz="1400" err="1"/>
              <a:t>제한</a:t>
            </a:r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8138160" y="1234440"/>
            <a:ext cx="3664634" cy="4480560"/>
          </a:xfrm>
          <a:prstGeom prst="roundRect">
            <a:avLst/>
          </a:prstGeom>
          <a:solidFill>
            <a:srgbClr val="E7F2FB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43456"/>
                </a:solidFill>
                <a:latin typeface="Malgun Gothic"/>
              </a:defRPr>
            </a:pPr>
            <a:r>
              <a:rPr err="1"/>
              <a:t>다음</a:t>
            </a:r>
            <a:r>
              <a:t> </a:t>
            </a:r>
            <a:r>
              <a:rPr err="1"/>
              <a:t>단계</a:t>
            </a:r>
            <a:endParaRPr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endParaRPr lang="en-US"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r>
              <a:rPr sz="1400"/>
              <a:t>• </a:t>
            </a:r>
            <a:r>
              <a:rPr sz="1400" err="1"/>
              <a:t>다양한</a:t>
            </a:r>
            <a:r>
              <a:rPr sz="1400"/>
              <a:t> </a:t>
            </a:r>
            <a:r>
              <a:rPr sz="1400" err="1"/>
              <a:t>실제</a:t>
            </a:r>
            <a:r>
              <a:rPr sz="1400"/>
              <a:t> </a:t>
            </a:r>
            <a:r>
              <a:rPr sz="1400" err="1"/>
              <a:t>데이터</a:t>
            </a:r>
            <a:r>
              <a:rPr sz="1400"/>
              <a:t> </a:t>
            </a:r>
            <a:r>
              <a:rPr sz="1400" err="1"/>
              <a:t>추가</a:t>
            </a:r>
            <a:br>
              <a:rPr sz="1400"/>
            </a:br>
            <a:endParaRPr lang="en-US" sz="1400"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r>
              <a:rPr sz="1400"/>
              <a:t>• 더 </a:t>
            </a:r>
            <a:r>
              <a:rPr sz="1400" err="1"/>
              <a:t>체계적인</a:t>
            </a:r>
            <a:r>
              <a:rPr lang="en-US" sz="1400"/>
              <a:t> </a:t>
            </a:r>
            <a:r>
              <a:rPr lang="ko-KR" altLang="en-US" sz="1400" err="1"/>
              <a:t>하이퍼</a:t>
            </a:r>
            <a:r>
              <a:rPr lang="ko-KR" altLang="en-US" sz="1400"/>
              <a:t> 파라미터 변경</a:t>
            </a:r>
            <a:br>
              <a:rPr sz="1400"/>
            </a:br>
            <a:endParaRPr lang="en-US" sz="1400"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r>
              <a:rPr sz="1400"/>
              <a:t>• data augmentation </a:t>
            </a:r>
            <a:r>
              <a:rPr sz="1400" err="1"/>
              <a:t>비교</a:t>
            </a:r>
            <a:br>
              <a:rPr sz="1400"/>
            </a:br>
            <a:endParaRPr lang="en-US" sz="1400"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r>
              <a:rPr sz="1400"/>
              <a:t>• Grad-CAM </a:t>
            </a:r>
            <a:r>
              <a:rPr sz="1400" err="1"/>
              <a:t>기반</a:t>
            </a:r>
            <a:r>
              <a:rPr sz="1400"/>
              <a:t> </a:t>
            </a:r>
            <a:r>
              <a:rPr sz="1400" err="1"/>
              <a:t>설명</a:t>
            </a:r>
            <a:r>
              <a:rPr sz="1400"/>
              <a:t> </a:t>
            </a:r>
            <a:r>
              <a:rPr sz="1400" err="1"/>
              <a:t>가능성</a:t>
            </a:r>
            <a:r>
              <a:rPr sz="1400"/>
              <a:t> </a:t>
            </a:r>
            <a:r>
              <a:rPr sz="1400" err="1"/>
              <a:t>평가</a:t>
            </a:r>
            <a:br>
              <a:rPr sz="1400"/>
            </a:br>
            <a:endParaRPr lang="en-US" sz="1400"/>
          </a:p>
          <a:p>
            <a:pPr>
              <a:spcBef>
                <a:spcPts val="600"/>
              </a:spcBef>
              <a:defRPr sz="1300">
                <a:solidFill>
                  <a:srgbClr val="1E2328"/>
                </a:solidFill>
                <a:latin typeface="Malgun Gothic"/>
              </a:defRPr>
            </a:pPr>
            <a:r>
              <a:rPr sz="1400"/>
              <a:t>• </a:t>
            </a:r>
            <a:r>
              <a:rPr sz="1400" err="1"/>
              <a:t>외부</a:t>
            </a:r>
            <a:r>
              <a:rPr sz="1400"/>
              <a:t> test </a:t>
            </a:r>
            <a:r>
              <a:rPr sz="1400" err="1"/>
              <a:t>set으로</a:t>
            </a:r>
            <a:r>
              <a:rPr sz="1400"/>
              <a:t> </a:t>
            </a:r>
            <a:r>
              <a:rPr sz="1400" err="1"/>
              <a:t>일반화</a:t>
            </a:r>
            <a:r>
              <a:rPr sz="1400"/>
              <a:t> </a:t>
            </a:r>
            <a:r>
              <a:rPr sz="1400" err="1"/>
              <a:t>성능</a:t>
            </a:r>
            <a:r>
              <a:rPr sz="1400"/>
              <a:t> </a:t>
            </a:r>
            <a:r>
              <a:rPr sz="1400" err="1"/>
              <a:t>검증</a:t>
            </a:r>
            <a:endParaRPr sz="1400"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PlantVillage 데이터셋의 특성은 Mohanty et al. (2016) 논의와 함께 해석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504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752"/>
                </a:solidFill>
                <a:latin typeface="Malgun Gothic"/>
              </a:defRPr>
            </a:pPr>
            <a:r>
              <a:rPr lang="en-US"/>
              <a:t>20. </a:t>
            </a:r>
            <a:r>
              <a:rPr err="1"/>
              <a:t>배운</a:t>
            </a:r>
            <a:r>
              <a:t> 점 &amp; </a:t>
            </a:r>
            <a:r>
              <a:rPr err="1"/>
              <a:t>추후</a:t>
            </a:r>
            <a:r>
              <a:t> </a:t>
            </a:r>
            <a:r>
              <a:rPr err="1"/>
              <a:t>확장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Malgun Gothic"/>
              </a:defRPr>
            </a:pPr>
            <a:r>
              <a:t>Portfolio · Learning &amp; Next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098" y="1325880"/>
            <a:ext cx="5553222" cy="4480560"/>
          </a:xfrm>
          <a:prstGeom prst="roundRect">
            <a:avLst/>
          </a:prstGeom>
          <a:solidFill>
            <a:srgbClr val="EBF4FB"/>
          </a:solidFill>
          <a:ln>
            <a:solidFill>
              <a:srgbClr val="4B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201168" rtlCol="0" anchor="ctr"/>
          <a:lstStyle/>
          <a:p>
            <a:pPr algn="ctr">
              <a:defRPr sz="1800" b="1">
                <a:solidFill>
                  <a:srgbClr val="1C3752"/>
                </a:solidFill>
                <a:latin typeface="Malgun Gothic"/>
              </a:defRPr>
            </a:pPr>
            <a:r>
              <a:rPr err="1"/>
              <a:t>배운</a:t>
            </a:r>
            <a:r>
              <a:t> 점</a:t>
            </a:r>
          </a:p>
          <a:p>
            <a:pPr>
              <a:spcBef>
                <a:spcPts val="900"/>
              </a:spcBef>
              <a:defRPr sz="1400">
                <a:solidFill>
                  <a:srgbClr val="23282D"/>
                </a:solidFill>
                <a:latin typeface="Malgun Gothic"/>
              </a:defRPr>
            </a:pPr>
            <a:r>
              <a:t>① </a:t>
            </a:r>
            <a:r>
              <a:rPr err="1"/>
              <a:t>데이터</a:t>
            </a:r>
            <a:r>
              <a:t> </a:t>
            </a:r>
            <a:r>
              <a:rPr err="1"/>
              <a:t>중복과</a:t>
            </a:r>
            <a:r>
              <a:t> </a:t>
            </a:r>
            <a:r>
              <a:rPr err="1"/>
              <a:t>데이터</a:t>
            </a:r>
            <a:r>
              <a:t> </a:t>
            </a:r>
            <a:r>
              <a:rPr b="1" err="1"/>
              <a:t>누수를</a:t>
            </a:r>
            <a:r>
              <a:rPr b="1"/>
              <a:t> </a:t>
            </a:r>
            <a:r>
              <a:rPr b="1" err="1"/>
              <a:t>확인하는</a:t>
            </a:r>
            <a:r>
              <a:rPr b="1"/>
              <a:t> </a:t>
            </a:r>
            <a:r>
              <a:rPr b="1" err="1"/>
              <a:t>과정</a:t>
            </a:r>
            <a:r>
              <a:rPr err="1"/>
              <a:t>이</a:t>
            </a:r>
            <a:r>
              <a:t> </a:t>
            </a:r>
            <a:r>
              <a:rPr err="1"/>
              <a:t>모델</a:t>
            </a:r>
            <a:r>
              <a:t> </a:t>
            </a:r>
            <a:r>
              <a:rPr err="1"/>
              <a:t>성능만큼</a:t>
            </a:r>
            <a:r>
              <a:t> </a:t>
            </a:r>
            <a:r>
              <a:rPr err="1"/>
              <a:t>중요하다는</a:t>
            </a:r>
            <a:r>
              <a:t> </a:t>
            </a:r>
            <a:r>
              <a:rPr err="1"/>
              <a:t>것을</a:t>
            </a:r>
            <a:r>
              <a:t> </a:t>
            </a:r>
            <a:r>
              <a:rPr err="1"/>
              <a:t>배웠다</a:t>
            </a:r>
            <a:r>
              <a:t>.</a:t>
            </a:r>
            <a:br>
              <a:rPr/>
            </a:br>
            <a:br>
              <a:rPr/>
            </a:br>
            <a:r>
              <a:t>② </a:t>
            </a:r>
            <a:r>
              <a:rPr err="1"/>
              <a:t>ANN·DNN·CNN을</a:t>
            </a:r>
            <a:r>
              <a:t> </a:t>
            </a:r>
            <a:r>
              <a:rPr err="1"/>
              <a:t>직접</a:t>
            </a:r>
            <a:r>
              <a:t> </a:t>
            </a:r>
            <a:r>
              <a:rPr err="1"/>
              <a:t>비교하며</a:t>
            </a:r>
            <a:r>
              <a:t> </a:t>
            </a:r>
            <a:r>
              <a:rPr b="1" err="1"/>
              <a:t>이미지</a:t>
            </a:r>
            <a:r>
              <a:rPr b="1"/>
              <a:t> </a:t>
            </a:r>
            <a:r>
              <a:rPr b="1" err="1"/>
              <a:t>데이터에는</a:t>
            </a:r>
            <a:r>
              <a:rPr b="1"/>
              <a:t> </a:t>
            </a:r>
            <a:r>
              <a:rPr err="1"/>
              <a:t>공간적</a:t>
            </a:r>
            <a:r>
              <a:t> </a:t>
            </a:r>
            <a:r>
              <a:rPr err="1"/>
              <a:t>특징을</a:t>
            </a:r>
            <a:r>
              <a:t> </a:t>
            </a:r>
            <a:r>
              <a:rPr err="1"/>
              <a:t>활용하는</a:t>
            </a:r>
            <a:r>
              <a:t> </a:t>
            </a:r>
            <a:r>
              <a:rPr b="1"/>
              <a:t>CNN </a:t>
            </a:r>
            <a:r>
              <a:rPr b="1" err="1"/>
              <a:t>구조가</a:t>
            </a:r>
            <a:r>
              <a:rPr b="1"/>
              <a:t> </a:t>
            </a:r>
            <a:r>
              <a:rPr b="1" err="1"/>
              <a:t>효과적</a:t>
            </a:r>
            <a:r>
              <a:rPr err="1"/>
              <a:t>임을</a:t>
            </a:r>
            <a:r>
              <a:t> </a:t>
            </a:r>
            <a:r>
              <a:rPr err="1"/>
              <a:t>확인했다</a:t>
            </a:r>
            <a:r>
              <a:t>.</a:t>
            </a:r>
            <a:br>
              <a:rPr/>
            </a:br>
            <a:br>
              <a:rPr/>
            </a:br>
            <a:r>
              <a:t>③ DNN </a:t>
            </a:r>
            <a:r>
              <a:rPr err="1"/>
              <a:t>학습</a:t>
            </a:r>
            <a:r>
              <a:t> </a:t>
            </a:r>
            <a:r>
              <a:rPr err="1"/>
              <a:t>결과를</a:t>
            </a:r>
            <a:r>
              <a:t> </a:t>
            </a:r>
            <a:r>
              <a:rPr err="1"/>
              <a:t>관찰한</a:t>
            </a:r>
            <a:r>
              <a:t> 뒤 He Normal </a:t>
            </a:r>
            <a:r>
              <a:rPr err="1"/>
              <a:t>초기화와</a:t>
            </a:r>
            <a:r>
              <a:t> Dropout 0.5를 </a:t>
            </a:r>
            <a:r>
              <a:rPr err="1"/>
              <a:t>적용하며</a:t>
            </a:r>
            <a:r>
              <a:t>, </a:t>
            </a:r>
            <a:r>
              <a:rPr err="1"/>
              <a:t>하이퍼파라미터를</a:t>
            </a:r>
            <a:r>
              <a:t> </a:t>
            </a:r>
            <a:r>
              <a:rPr err="1"/>
              <a:t>근거를</a:t>
            </a:r>
            <a:r>
              <a:t> </a:t>
            </a:r>
            <a:r>
              <a:rPr err="1"/>
              <a:t>가지고</a:t>
            </a:r>
            <a:r>
              <a:t> </a:t>
            </a:r>
            <a:r>
              <a:rPr err="1"/>
              <a:t>조정하는</a:t>
            </a:r>
            <a:r>
              <a:t> </a:t>
            </a:r>
            <a:r>
              <a:rPr err="1"/>
              <a:t>과정을</a:t>
            </a:r>
            <a:r>
              <a:t> </a:t>
            </a:r>
            <a:r>
              <a:rPr err="1"/>
              <a:t>경험했다</a:t>
            </a:r>
            <a:r>
              <a:t>.</a:t>
            </a:r>
            <a:br>
              <a:rPr/>
            </a:br>
            <a:br>
              <a:rPr/>
            </a:br>
            <a:r>
              <a:t>④ </a:t>
            </a:r>
            <a:r>
              <a:rPr err="1"/>
              <a:t>Accuracy뿐</a:t>
            </a:r>
            <a:r>
              <a:t> </a:t>
            </a:r>
            <a:r>
              <a:rPr err="1"/>
              <a:t>아니라</a:t>
            </a:r>
            <a:r>
              <a:t> Precision·Recall·F1·Confusion </a:t>
            </a:r>
            <a:r>
              <a:rPr err="1"/>
              <a:t>Matrix까지</a:t>
            </a:r>
            <a:r>
              <a:t> </a:t>
            </a:r>
            <a:r>
              <a:rPr err="1"/>
              <a:t>활용해</a:t>
            </a:r>
            <a:r>
              <a:t> </a:t>
            </a:r>
            <a:r>
              <a:rPr err="1"/>
              <a:t>결과를</a:t>
            </a:r>
            <a:r>
              <a:t> </a:t>
            </a:r>
            <a:r>
              <a:rPr err="1"/>
              <a:t>분석했다</a:t>
            </a:r>
            <a: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1325880"/>
            <a:ext cx="5805268" cy="4480560"/>
          </a:xfrm>
          <a:prstGeom prst="roundRect">
            <a:avLst/>
          </a:prstGeom>
          <a:solidFill>
            <a:srgbClr val="EBF6EF"/>
          </a:solidFill>
          <a:ln>
            <a:solidFill>
              <a:srgbClr val="4C8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201168" rtlCol="0" anchor="ctr"/>
          <a:lstStyle/>
          <a:p>
            <a:pPr algn="ctr">
              <a:defRPr sz="1800" b="1">
                <a:solidFill>
                  <a:srgbClr val="1C3752"/>
                </a:solidFill>
                <a:latin typeface="Malgun Gothic"/>
              </a:defRPr>
            </a:pPr>
            <a:r>
              <a:t>추후 확장</a:t>
            </a:r>
          </a:p>
          <a:p>
            <a:pPr>
              <a:spcBef>
                <a:spcPts val="900"/>
              </a:spcBef>
              <a:defRPr sz="1400">
                <a:solidFill>
                  <a:srgbClr val="23282D"/>
                </a:solidFill>
                <a:latin typeface="Malgun Gothic"/>
              </a:defRPr>
            </a:pPr>
            <a:r>
              <a:t>① 실제 환경에서 촬영된 데이터를 추가하여 일반화 성능 검증</a:t>
            </a:r>
            <a:br/>
            <a:br/>
            <a:r>
              <a:t>② 현재 사용하지 않은 Data Augmentation 적용 전·후 비교</a:t>
            </a:r>
            <a:br/>
            <a:br/>
            <a:r>
              <a:t>③ Learning Rate, Batch Size, Dropout 등 하이퍼파라미터 탐색 범위 확대</a:t>
            </a:r>
            <a:br/>
            <a:br/>
            <a:r>
              <a:t>④ Grad-CAM을 활용해 모델이 판단에 참고한 영역 시각화</a:t>
            </a:r>
            <a:br/>
            <a:br/>
            <a:r>
              <a:t>⑤ 이미지 업로드 → 질병 예측이 가능한 웹 서비스로 확장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61294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6"/>
                </a:solidFill>
                <a:latin typeface="Malgun Gothic"/>
              </a:defRPr>
            </a:pPr>
            <a:r>
              <a:rPr lang="en-US"/>
              <a:t>21</a:t>
            </a:r>
            <a:r>
              <a:t>. </a:t>
            </a:r>
            <a:r>
              <a:rPr err="1"/>
              <a:t>결론</a:t>
            </a:r>
            <a:r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64544"/>
            <a:ext cx="10175922" cy="4104736"/>
          </a:xfrm>
          <a:prstGeom prst="roundRect">
            <a:avLst/>
          </a:prstGeom>
          <a:solidFill>
            <a:srgbClr val="E7F2FB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  <a:defRPr sz="1300">
                <a:solidFill>
                  <a:srgbClr val="1E2328"/>
                </a:solidFill>
                <a:latin typeface="Malgun Gothic"/>
              </a:defRPr>
            </a:pPr>
            <a:r>
              <a:rPr sz="1900"/>
              <a:t> ANN → </a:t>
            </a:r>
            <a:r>
              <a:rPr sz="1900" err="1"/>
              <a:t>DNN으로</a:t>
            </a:r>
            <a:r>
              <a:rPr sz="1900"/>
              <a:t> </a:t>
            </a:r>
            <a:r>
              <a:rPr sz="1900" err="1"/>
              <a:t>표현력을</a:t>
            </a:r>
            <a:r>
              <a:rPr sz="1900"/>
              <a:t> </a:t>
            </a:r>
            <a:r>
              <a:rPr sz="1900" err="1"/>
              <a:t>늘리면</a:t>
            </a:r>
            <a:r>
              <a:rPr sz="1900"/>
              <a:t> </a:t>
            </a:r>
            <a:r>
              <a:rPr sz="1900" err="1"/>
              <a:t>성능이</a:t>
            </a:r>
            <a:r>
              <a:rPr sz="1900"/>
              <a:t> </a:t>
            </a:r>
            <a:r>
              <a:rPr sz="1900" err="1"/>
              <a:t>상승했다</a:t>
            </a:r>
            <a:r>
              <a:rPr sz="1900"/>
              <a:t>.</a:t>
            </a:r>
            <a:br>
              <a:rPr sz="1900"/>
            </a:br>
            <a:endParaRPr lang="en-US" sz="190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300">
                <a:solidFill>
                  <a:srgbClr val="1E2328"/>
                </a:solidFill>
                <a:latin typeface="Malgun Gothic"/>
              </a:defRPr>
            </a:pPr>
            <a:r>
              <a:rPr sz="1900"/>
              <a:t> </a:t>
            </a:r>
            <a:r>
              <a:rPr sz="1900" err="1"/>
              <a:t>CNN은</a:t>
            </a:r>
            <a:r>
              <a:rPr sz="1900"/>
              <a:t> </a:t>
            </a:r>
            <a:r>
              <a:rPr sz="1900" err="1"/>
              <a:t>이미지의</a:t>
            </a:r>
            <a:r>
              <a:rPr sz="1900"/>
              <a:t> </a:t>
            </a:r>
            <a:r>
              <a:rPr sz="1900" err="1"/>
              <a:t>공간적</a:t>
            </a:r>
            <a:r>
              <a:rPr sz="1900"/>
              <a:t> </a:t>
            </a:r>
            <a:r>
              <a:rPr sz="1900" err="1"/>
              <a:t>특징을</a:t>
            </a:r>
            <a:r>
              <a:rPr sz="1900"/>
              <a:t> </a:t>
            </a:r>
            <a:r>
              <a:rPr sz="1900" err="1"/>
              <a:t>직접</a:t>
            </a:r>
            <a:r>
              <a:rPr sz="1900"/>
              <a:t> </a:t>
            </a:r>
            <a:r>
              <a:rPr sz="1900" err="1"/>
              <a:t>추출하면서</a:t>
            </a:r>
            <a:r>
              <a:rPr sz="1900"/>
              <a:t> 94%대 </a:t>
            </a:r>
            <a:r>
              <a:rPr sz="1900" err="1"/>
              <a:t>성능을</a:t>
            </a:r>
            <a:r>
              <a:rPr sz="1900"/>
              <a:t> </a:t>
            </a:r>
            <a:r>
              <a:rPr sz="1900" err="1"/>
              <a:t>달성했다</a:t>
            </a:r>
            <a:r>
              <a:rPr sz="1900"/>
              <a:t>.</a:t>
            </a:r>
            <a:br>
              <a:rPr sz="1900"/>
            </a:br>
            <a:endParaRPr lang="en-US" sz="190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300">
                <a:solidFill>
                  <a:srgbClr val="1E2328"/>
                </a:solidFill>
                <a:latin typeface="Malgun Gothic"/>
              </a:defRPr>
            </a:pPr>
            <a:r>
              <a:rPr sz="1900"/>
              <a:t> </a:t>
            </a:r>
            <a:r>
              <a:rPr sz="1900" err="1"/>
              <a:t>Keras</a:t>
            </a:r>
            <a:r>
              <a:rPr sz="1900"/>
              <a:t>/</a:t>
            </a:r>
            <a:r>
              <a:rPr sz="1900" err="1"/>
              <a:t>PyTorch</a:t>
            </a:r>
            <a:r>
              <a:rPr sz="1900"/>
              <a:t> </a:t>
            </a:r>
            <a:r>
              <a:rPr sz="1900" err="1"/>
              <a:t>차이보다</a:t>
            </a:r>
            <a:r>
              <a:rPr sz="1900"/>
              <a:t> ANN/DNN/CNN </a:t>
            </a:r>
            <a:r>
              <a:rPr sz="1900" err="1"/>
              <a:t>구조</a:t>
            </a:r>
            <a:r>
              <a:rPr sz="1900"/>
              <a:t> </a:t>
            </a:r>
            <a:r>
              <a:rPr sz="1900" err="1"/>
              <a:t>차이가</a:t>
            </a:r>
            <a:r>
              <a:rPr sz="1900"/>
              <a:t> 더 </a:t>
            </a:r>
            <a:r>
              <a:rPr sz="1900" err="1"/>
              <a:t>컸다</a:t>
            </a:r>
            <a:r>
              <a:rPr sz="1900"/>
              <a:t>.</a:t>
            </a:r>
            <a:br>
              <a:rPr sz="1900"/>
            </a:br>
            <a:endParaRPr lang="en-US" sz="190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 sz="1300">
                <a:solidFill>
                  <a:srgbClr val="1E2328"/>
                </a:solidFill>
                <a:latin typeface="Malgun Gothic"/>
              </a:defRPr>
            </a:pPr>
            <a:r>
              <a:rPr sz="1900" err="1"/>
              <a:t>최종</a:t>
            </a:r>
            <a:r>
              <a:rPr sz="1900"/>
              <a:t> </a:t>
            </a:r>
            <a:r>
              <a:rPr sz="1900" err="1"/>
              <a:t>성능은</a:t>
            </a:r>
            <a:r>
              <a:rPr sz="1900"/>
              <a:t> </a:t>
            </a:r>
            <a:r>
              <a:rPr sz="1900" err="1"/>
              <a:t>해당</a:t>
            </a:r>
            <a:r>
              <a:rPr sz="1900"/>
              <a:t> </a:t>
            </a:r>
            <a:r>
              <a:rPr sz="1900" err="1"/>
              <a:t>데이터셋</a:t>
            </a:r>
            <a:r>
              <a:rPr sz="1900"/>
              <a:t>/</a:t>
            </a:r>
            <a:r>
              <a:rPr sz="1900" err="1"/>
              <a:t>분할</a:t>
            </a:r>
            <a:r>
              <a:rPr sz="1900"/>
              <a:t> </a:t>
            </a:r>
            <a:r>
              <a:rPr sz="1900" err="1"/>
              <a:t>조건에서의</a:t>
            </a:r>
            <a:r>
              <a:rPr sz="1900"/>
              <a:t> </a:t>
            </a:r>
            <a:r>
              <a:rPr sz="1900" err="1"/>
              <a:t>결과이며</a:t>
            </a:r>
            <a:r>
              <a:rPr sz="1900"/>
              <a:t> </a:t>
            </a:r>
            <a:r>
              <a:rPr sz="1900" err="1"/>
              <a:t>실제</a:t>
            </a:r>
            <a:r>
              <a:rPr sz="1900"/>
              <a:t> </a:t>
            </a:r>
            <a:r>
              <a:rPr sz="1900" err="1"/>
              <a:t>환경</a:t>
            </a:r>
            <a:r>
              <a:rPr sz="1900"/>
              <a:t> </a:t>
            </a:r>
            <a:r>
              <a:rPr sz="1900" err="1"/>
              <a:t>성능으로</a:t>
            </a:r>
            <a:r>
              <a:rPr sz="1900"/>
              <a:t> </a:t>
            </a:r>
            <a:r>
              <a:rPr sz="1900" err="1"/>
              <a:t>일반화하지</a:t>
            </a:r>
            <a:r>
              <a:rPr sz="1900"/>
              <a:t> </a:t>
            </a:r>
            <a:r>
              <a:rPr sz="1900" err="1"/>
              <a:t>않는다</a:t>
            </a:r>
            <a:r>
              <a:rPr sz="190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0"/>
                </a:solidFill>
                <a:latin typeface="Malgun Gothic"/>
              </a:defRPr>
            </a:pPr>
            <a:r>
              <a:t>Tomato Leaf Disease Classification ·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F142F3D0-EE8B-FA98-7E08-2B24D22351F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745342-401D-E33C-EEBD-69D07FA6A3D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4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9BCAE97-B094-43E6-FAA6-B1D713A2C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343" y="2935604"/>
            <a:ext cx="3009314" cy="1362075"/>
          </a:xfrm>
        </p:spPr>
        <p:txBody>
          <a:bodyPr/>
          <a:lstStyle/>
          <a:p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544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D5896AE-1F15-7C26-750E-13A4B07EB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685177"/>
              </p:ext>
            </p:extLst>
          </p:nvPr>
        </p:nvGraphicFramePr>
        <p:xfrm>
          <a:off x="1638886" y="2450977"/>
          <a:ext cx="8229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27287262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5972076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77735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Keras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PyTorch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구현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간단하고 직관적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유연하고 세부 제어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006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이미지 데이터 차원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NHWC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NCHW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934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의미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Batch × Height × Width × 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Batch × Channel × Height × Width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240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예시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(32, 128, 128, 3)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(32, 3, 128, 128)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5974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빠른 구현·실험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학습 과정과 모델 세부 제어에 유리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1292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DD5D6F5-0868-4346-BFC7-BD0B79E8EBBE}"/>
              </a:ext>
            </a:extLst>
          </p:cNvPr>
          <p:cNvSpPr txBox="1"/>
          <p:nvPr/>
        </p:nvSpPr>
        <p:spPr>
          <a:xfrm>
            <a:off x="1512109" y="860658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err="1"/>
              <a:t>Keras</a:t>
            </a:r>
            <a:r>
              <a:rPr lang="en-US" altLang="ko-KR" sz="3200"/>
              <a:t> </a:t>
            </a:r>
            <a:r>
              <a:rPr lang="ko-KR" altLang="en-US" sz="3200"/>
              <a:t>와 </a:t>
            </a:r>
            <a:r>
              <a:rPr lang="en-US" altLang="ko-KR" sz="3200" err="1"/>
              <a:t>PyTorch</a:t>
            </a:r>
            <a:r>
              <a:rPr lang="en-US" altLang="ko-KR" sz="3200"/>
              <a:t> </a:t>
            </a:r>
            <a:r>
              <a:rPr lang="ko-KR" altLang="en-US" sz="3200"/>
              <a:t>차이점</a:t>
            </a:r>
          </a:p>
        </p:txBody>
      </p:sp>
    </p:spTree>
    <p:extLst>
      <p:ext uri="{BB962C8B-B14F-4D97-AF65-F5344CB8AC3E}">
        <p14:creationId xmlns:p14="http://schemas.microsoft.com/office/powerpoint/2010/main" val="300597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a_clean_infographic_slide_diagram_with_a_white_bac.png">
            <a:extLst>
              <a:ext uri="{FF2B5EF4-FFF2-40B4-BE49-F238E27FC236}">
                <a16:creationId xmlns:a16="http://schemas.microsoft.com/office/drawing/2014/main" id="{A341ED1F-E52A-C48B-8FD3-25FE39163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251" y="131022"/>
            <a:ext cx="10090466" cy="672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43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1FEEC02-402D-85CC-F1AB-C0CD6C5C3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763557"/>
              </p:ext>
            </p:extLst>
          </p:nvPr>
        </p:nvGraphicFramePr>
        <p:xfrm>
          <a:off x="1287026" y="1491175"/>
          <a:ext cx="9024591" cy="46349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8197">
                  <a:extLst>
                    <a:ext uri="{9D8B030D-6E8A-4147-A177-3AD203B41FA5}">
                      <a16:colId xmlns:a16="http://schemas.microsoft.com/office/drawing/2014/main" val="4042708704"/>
                    </a:ext>
                  </a:extLst>
                </a:gridCol>
                <a:gridCol w="3008197">
                  <a:extLst>
                    <a:ext uri="{9D8B030D-6E8A-4147-A177-3AD203B41FA5}">
                      <a16:colId xmlns:a16="http://schemas.microsoft.com/office/drawing/2014/main" val="1439476232"/>
                    </a:ext>
                  </a:extLst>
                </a:gridCol>
                <a:gridCol w="3008197">
                  <a:extLst>
                    <a:ext uri="{9D8B030D-6E8A-4147-A177-3AD203B41FA5}">
                      <a16:colId xmlns:a16="http://schemas.microsoft.com/office/drawing/2014/main" val="2695374723"/>
                    </a:ext>
                  </a:extLst>
                </a:gridCol>
              </a:tblGrid>
              <a:tr h="299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클래스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병명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잎에서 보이는 주요 특징</a:t>
                      </a: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3719148899"/>
                  </a:ext>
                </a:extLst>
              </a:tr>
              <a:tr h="747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Bacterial Spot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세균성 반점병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작은 갈색~검은 반점, 주변이 노랗게 변할 수 있음</a:t>
                      </a: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3249032215"/>
                  </a:ext>
                </a:extLst>
              </a:tr>
              <a:tr h="523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Healthy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정상 잎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뚜렷한 병변 없이 균일한 녹색</a:t>
                      </a: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1680535355"/>
                  </a:ext>
                </a:extLst>
              </a:tr>
              <a:tr h="523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Late Blight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역병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불규칙한 갈색~검은색 큰 병반, 빠르게 퍼지는 특징</a:t>
                      </a: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351259723"/>
                  </a:ext>
                </a:extLst>
              </a:tr>
              <a:tr h="747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Septoria Leaf Spot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셉토리아 잎곰팡이병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작고 둥근 갈색 반점, 가운데가 밝고 검은 점이 보일 수 있음</a:t>
                      </a: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1961188385"/>
                  </a:ext>
                </a:extLst>
              </a:tr>
              <a:tr h="747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Spider Mites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점박이응애 피해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잎에 작은 노란색/흰색 점이 많이 생김, 심하면 잎이 황화됨</a:t>
                      </a: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3080244836"/>
                  </a:ext>
                </a:extLst>
              </a:tr>
              <a:tr h="523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Target Spot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겹무늬병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동심원 형태의 갈색 병반 → 과녁(Target)처럼 보임</a:t>
                      </a: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3124030869"/>
                  </a:ext>
                </a:extLst>
              </a:tr>
              <a:tr h="523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Yellow Leaf Curl Virus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토마토 황화잎말림바이러스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잎이 노랗게 변하고 말림, 생육이 저하됨</a:t>
                      </a: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150824778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D40BF94-A120-79BF-61BD-99B61325D11A}"/>
              </a:ext>
            </a:extLst>
          </p:cNvPr>
          <p:cNvSpPr txBox="1"/>
          <p:nvPr/>
        </p:nvSpPr>
        <p:spPr>
          <a:xfrm>
            <a:off x="1287026" y="568271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3200"/>
              <a:t>7개</a:t>
            </a:r>
            <a:r>
              <a:rPr lang="ko-KR" altLang="en-US" sz="3200"/>
              <a:t>의 </a:t>
            </a:r>
            <a:r>
              <a:rPr lang="ko-KR" altLang="ko-KR" sz="3200"/>
              <a:t>클래스 핵심 특징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3526088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c3da349-bed8-43f0-9595-107f1049132f">
      <Terms xmlns="http://schemas.microsoft.com/office/infopath/2007/PartnerControls"/>
    </lcf76f155ced4ddcb4097134ff3c332f>
    <TaxCatchAll xmlns="b2d84c07-acad-4bdf-a276-6c2e6f8c19b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264DEC1EDF7B24A92FA6FDB338F6430" ma:contentTypeVersion="11" ma:contentTypeDescription="새 문서를 만듭니다." ma:contentTypeScope="" ma:versionID="1fcd770e8123a417e34853d890cbf579">
  <xsd:schema xmlns:xsd="http://www.w3.org/2001/XMLSchema" xmlns:xs="http://www.w3.org/2001/XMLSchema" xmlns:p="http://schemas.microsoft.com/office/2006/metadata/properties" xmlns:ns2="3c3da349-bed8-43f0-9595-107f1049132f" xmlns:ns3="b2d84c07-acad-4bdf-a276-6c2e6f8c19b4" targetNamespace="http://schemas.microsoft.com/office/2006/metadata/properties" ma:root="true" ma:fieldsID="dd1faa9efd28c39cbfb59bd2ff60303a" ns2:_="" ns3:_="">
    <xsd:import namespace="3c3da349-bed8-43f0-9595-107f1049132f"/>
    <xsd:import namespace="b2d84c07-acad-4bdf-a276-6c2e6f8c19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da349-bed8-43f0-9595-107f104913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8000a940-ae6c-43da-b619-de366c7f0a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d84c07-acad-4bdf-a276-6c2e6f8c19b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f2235d8-b050-40f2-a4c3-d7c7e969cf7c}" ma:internalName="TaxCatchAll" ma:showField="CatchAllData" ma:web="b2d84c07-acad-4bdf-a276-6c2e6f8c19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E434DD-7124-4C4D-B5AD-8AF0442BE000}">
  <ds:schemaRefs>
    <ds:schemaRef ds:uri="3c3da349-bed8-43f0-9595-107f1049132f"/>
    <ds:schemaRef ds:uri="b2d84c07-acad-4bdf-a276-6c2e6f8c19b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FE83A94-66FD-41BE-83F6-539CD3C2F253}">
  <ds:schemaRefs>
    <ds:schemaRef ds:uri="3c3da349-bed8-43f0-9595-107f1049132f"/>
    <ds:schemaRef ds:uri="b2d84c07-acad-4bdf-a276-6c2e6f8c19b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5061491-FB2A-4FF4-AB65-F85B490490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감사합니다.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AISW_203_115</dc:creator>
  <cp:keywords/>
  <dc:description>generated using python-pptx</dc:description>
  <cp:revision>3</cp:revision>
  <dcterms:created xsi:type="dcterms:W3CDTF">2013-01-27T09:14:16Z</dcterms:created>
  <dcterms:modified xsi:type="dcterms:W3CDTF">2026-09-09T06:24:00Z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0x010100B264DEC1EDF7B24A92FA6FDB338F6430</vt:lpwstr>
  </property>
  <property fmtid="{D5CDD505-2E9C-101B-9397-08002B2CF9AE}" pid="3" name="MediaServiceImageTags">
    <vt:lpwstr/>
  </property>
</Properties>
</file>